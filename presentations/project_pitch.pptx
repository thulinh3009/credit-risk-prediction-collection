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
  </p:notesMasterIdLst>
  <p:sldIdLst>
    <p:sldId id="256" r:id="rId2"/>
    <p:sldId id="257" r:id="rId3"/>
    <p:sldId id="258" r:id="rId4"/>
    <p:sldId id="259" r:id="rId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6" d="100"/>
          <a:sy n="86" d="100"/>
        </p:scale>
        <p:origin x="533"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50093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47"/>
        </a:solidFill>
        <a:effectLst/>
      </p:bgPr>
    </p:bg>
    <p:spTree>
      <p:nvGrpSpPr>
        <p:cNvPr id="1" name=""/>
        <p:cNvGrpSpPr/>
        <p:nvPr/>
      </p:nvGrpSpPr>
      <p:grpSpPr>
        <a:xfrm>
          <a:off x="0" y="0"/>
          <a:ext cx="0" cy="0"/>
          <a:chOff x="0" y="0"/>
          <a:chExt cx="0" cy="0"/>
        </a:xfrm>
      </p:grpSpPr>
      <p:sp>
        <p:nvSpPr>
          <p:cNvPr id="2" name="Shape 0"/>
          <p:cNvSpPr/>
          <p:nvPr/>
        </p:nvSpPr>
        <p:spPr>
          <a:xfrm>
            <a:off x="8778240" y="-2194560"/>
            <a:ext cx="5943600" cy="5943600"/>
          </a:xfrm>
          <a:prstGeom prst="ellipse">
            <a:avLst/>
          </a:prstGeom>
          <a:solidFill>
            <a:srgbClr val="163A5C"/>
          </a:solidFill>
          <a:ln/>
        </p:spPr>
      </p:sp>
      <p:sp>
        <p:nvSpPr>
          <p:cNvPr id="3" name="Shape 1"/>
          <p:cNvSpPr/>
          <p:nvPr/>
        </p:nvSpPr>
        <p:spPr>
          <a:xfrm>
            <a:off x="-2377440" y="4754880"/>
            <a:ext cx="4754880" cy="4754880"/>
          </a:xfrm>
          <a:prstGeom prst="ellipse">
            <a:avLst/>
          </a:prstGeom>
          <a:solidFill>
            <a:srgbClr val="163A5C"/>
          </a:solidFill>
          <a:ln/>
        </p:spPr>
      </p:sp>
      <p:sp>
        <p:nvSpPr>
          <p:cNvPr id="4" name="Shape 2"/>
          <p:cNvSpPr/>
          <p:nvPr/>
        </p:nvSpPr>
        <p:spPr>
          <a:xfrm>
            <a:off x="5364785" y="685800"/>
            <a:ext cx="1463040" cy="1463040"/>
          </a:xfrm>
          <a:prstGeom prst="ellipse">
            <a:avLst/>
          </a:prstGeom>
          <a:solidFill>
            <a:srgbClr val="1F5FA8"/>
          </a:solidFill>
          <a:ln/>
        </p:spPr>
      </p:sp>
      <p:pic>
        <p:nvPicPr>
          <p:cNvPr id="5" name="Image 0" descr="credit_card.png"/>
          <p:cNvPicPr>
            <a:picLocks noChangeAspect="1"/>
          </p:cNvPicPr>
          <p:nvPr/>
        </p:nvPicPr>
        <p:blipFill>
          <a:blip r:embed="rId3"/>
          <a:stretch>
            <a:fillRect/>
          </a:stretch>
        </p:blipFill>
        <p:spPr>
          <a:xfrm>
            <a:off x="5554980" y="875995"/>
            <a:ext cx="1082650" cy="1082650"/>
          </a:xfrm>
          <a:prstGeom prst="rect">
            <a:avLst/>
          </a:prstGeom>
        </p:spPr>
      </p:pic>
      <p:sp>
        <p:nvSpPr>
          <p:cNvPr id="6" name="Text 3"/>
          <p:cNvSpPr/>
          <p:nvPr/>
        </p:nvSpPr>
        <p:spPr>
          <a:xfrm>
            <a:off x="731520" y="2423160"/>
            <a:ext cx="10728655" cy="1554480"/>
          </a:xfrm>
          <a:prstGeom prst="rect">
            <a:avLst/>
          </a:prstGeom>
          <a:noFill/>
          <a:ln/>
        </p:spPr>
        <p:txBody>
          <a:bodyPr wrap="square" rtlCol="0" anchor="ctr"/>
          <a:lstStyle/>
          <a:p>
            <a:pPr marL="0" indent="0" algn="ctr">
              <a:lnSpc>
                <a:spcPct val="112000"/>
              </a:lnSpc>
              <a:buNone/>
            </a:pPr>
            <a:r>
              <a:rPr lang="en-US" sz="3400" b="1" dirty="0">
                <a:solidFill>
                  <a:srgbClr val="FFFFFF"/>
                </a:solidFill>
                <a:latin typeface="Cambria" pitchFamily="34" charset="0"/>
                <a:ea typeface="Cambria" pitchFamily="34" charset="-122"/>
                <a:cs typeface="Cambria" pitchFamily="34" charset="-120"/>
              </a:rPr>
              <a:t>HỆ THỐNG DỰ ĐOÁN RỦI RO TÍN DỤNG</a:t>
            </a:r>
            <a:endParaRPr lang="en-US" sz="3400" dirty="0"/>
          </a:p>
          <a:p>
            <a:pPr marL="0" indent="0" algn="ctr">
              <a:lnSpc>
                <a:spcPct val="112000"/>
              </a:lnSpc>
              <a:buNone/>
            </a:pPr>
            <a:r>
              <a:rPr lang="en-US" sz="3400" b="1" dirty="0">
                <a:solidFill>
                  <a:srgbClr val="FFFFFF"/>
                </a:solidFill>
                <a:latin typeface="Cambria" pitchFamily="34" charset="0"/>
                <a:ea typeface="Cambria" pitchFamily="34" charset="-122"/>
                <a:cs typeface="Cambria" pitchFamily="34" charset="-120"/>
              </a:rPr>
              <a:t>VÀ ĐỀ XUẤT THU HỒI NỢ</a:t>
            </a:r>
            <a:endParaRPr lang="en-US" sz="3400" dirty="0"/>
          </a:p>
        </p:txBody>
      </p:sp>
      <p:sp>
        <p:nvSpPr>
          <p:cNvPr id="7" name="Text 4"/>
          <p:cNvSpPr/>
          <p:nvPr/>
        </p:nvSpPr>
        <p:spPr>
          <a:xfrm>
            <a:off x="1188720" y="3977640"/>
            <a:ext cx="9814255" cy="777240"/>
          </a:xfrm>
          <a:prstGeom prst="rect">
            <a:avLst/>
          </a:prstGeom>
          <a:noFill/>
          <a:ln/>
        </p:spPr>
        <p:txBody>
          <a:bodyPr wrap="square" rtlCol="0" anchor="ctr"/>
          <a:lstStyle/>
          <a:p>
            <a:pPr marL="0" indent="0" algn="ctr">
              <a:lnSpc>
                <a:spcPct val="120000"/>
              </a:lnSpc>
              <a:buNone/>
            </a:pPr>
            <a:r>
              <a:rPr lang="en-US" sz="1500" i="1" dirty="0">
                <a:solidFill>
                  <a:srgbClr val="5B8FC9"/>
                </a:solidFill>
                <a:latin typeface="Calibri" pitchFamily="34" charset="0"/>
                <a:ea typeface="Calibri" pitchFamily="34" charset="-122"/>
                <a:cs typeface="Calibri" pitchFamily="34" charset="-120"/>
              </a:rPr>
              <a:t>Đối chiếu và mở rộng nghiên cứu gốc của Yeh &amp; Lien (2009)</a:t>
            </a:r>
            <a:endParaRPr lang="en-US" sz="1500" dirty="0"/>
          </a:p>
          <a:p>
            <a:pPr marL="0" indent="0" algn="ctr">
              <a:lnSpc>
                <a:spcPct val="120000"/>
              </a:lnSpc>
              <a:buNone/>
            </a:pPr>
            <a:r>
              <a:rPr lang="en-US" sz="1500" i="1" dirty="0">
                <a:solidFill>
                  <a:srgbClr val="5B8FC9"/>
                </a:solidFill>
                <a:latin typeface="Calibri" pitchFamily="34" charset="0"/>
                <a:ea typeface="Calibri" pitchFamily="34" charset="-122"/>
                <a:cs typeface="Calibri" pitchFamily="34" charset="-120"/>
              </a:rPr>
              <a:t>trên bộ dữ liệu UCI Default of Credit Card Clients</a:t>
            </a:r>
            <a:endParaRPr lang="en-US" sz="1500" dirty="0"/>
          </a:p>
        </p:txBody>
      </p:sp>
      <p:sp>
        <p:nvSpPr>
          <p:cNvPr id="8" name="Shape 5"/>
          <p:cNvSpPr/>
          <p:nvPr/>
        </p:nvSpPr>
        <p:spPr>
          <a:xfrm>
            <a:off x="5364785" y="5074920"/>
            <a:ext cx="1463040" cy="0"/>
          </a:xfrm>
          <a:prstGeom prst="line">
            <a:avLst/>
          </a:prstGeom>
          <a:noFill/>
          <a:ln w="19050">
            <a:solidFill>
              <a:srgbClr val="1F5FA8"/>
            </a:solidFill>
            <a:prstDash val="solid"/>
          </a:ln>
        </p:spPr>
      </p:sp>
      <p:sp>
        <p:nvSpPr>
          <p:cNvPr id="9" name="Text 6"/>
          <p:cNvSpPr/>
          <p:nvPr/>
        </p:nvSpPr>
        <p:spPr>
          <a:xfrm>
            <a:off x="731520" y="5257800"/>
            <a:ext cx="10728655" cy="457200"/>
          </a:xfrm>
          <a:prstGeom prst="rect">
            <a:avLst/>
          </a:prstGeom>
          <a:noFill/>
          <a:ln/>
        </p:spPr>
        <p:txBody>
          <a:bodyPr wrap="square" rtlCol="0" anchor="ctr"/>
          <a:lstStyle/>
          <a:p>
            <a:pPr marL="0" indent="0" algn="ctr">
              <a:buNone/>
            </a:pPr>
            <a:r>
              <a:rPr lang="en-US" sz="1900" b="1" dirty="0">
                <a:solidFill>
                  <a:srgbClr val="FFFFFF"/>
                </a:solidFill>
                <a:latin typeface="Cambria" pitchFamily="34" charset="0"/>
                <a:ea typeface="Cambria" pitchFamily="34" charset="-122"/>
                <a:cs typeface="Cambria" pitchFamily="34" charset="-120"/>
              </a:rPr>
              <a:t>Đoàn Thị Thu Linh</a:t>
            </a:r>
            <a:endParaRPr lang="en-US" sz="1900" dirty="0"/>
          </a:p>
        </p:txBody>
      </p:sp>
      <p:sp>
        <p:nvSpPr>
          <p:cNvPr id="10" name="Text 7"/>
          <p:cNvSpPr/>
          <p:nvPr/>
        </p:nvSpPr>
        <p:spPr>
          <a:xfrm>
            <a:off x="731520" y="5687568"/>
            <a:ext cx="10728655" cy="365760"/>
          </a:xfrm>
          <a:prstGeom prst="rect">
            <a:avLst/>
          </a:prstGeom>
          <a:noFill/>
          <a:ln/>
        </p:spPr>
        <p:txBody>
          <a:bodyPr wrap="square" rtlCol="0" anchor="ctr"/>
          <a:lstStyle/>
          <a:p>
            <a:pPr marL="0" indent="0" algn="ctr">
              <a:buNone/>
            </a:pPr>
            <a:r>
              <a:rPr lang="en-US" sz="1200" dirty="0">
                <a:solidFill>
                  <a:srgbClr val="5B8FC9"/>
                </a:solidFill>
                <a:latin typeface="Calibri" pitchFamily="34" charset="0"/>
                <a:ea typeface="Calibri" pitchFamily="34" charset="-122"/>
                <a:cs typeface="Calibri" pitchFamily="34" charset="-120"/>
              </a:rPr>
              <a:t>23/07/2026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548640"/>
          </a:xfrm>
          <a:prstGeom prst="rect">
            <a:avLst/>
          </a:prstGeom>
          <a:noFill/>
          <a:ln/>
        </p:spPr>
        <p:txBody>
          <a:bodyPr wrap="square" rtlCol="0" anchor="ctr"/>
          <a:lstStyle/>
          <a:p>
            <a:pPr marL="0" indent="0">
              <a:buNone/>
            </a:pPr>
            <a:r>
              <a:rPr lang="en-US" sz="3000" b="1" dirty="0">
                <a:solidFill>
                  <a:srgbClr val="0E2A47"/>
                </a:solidFill>
                <a:latin typeface="Cambria" pitchFamily="34" charset="0"/>
                <a:ea typeface="Cambria" pitchFamily="34" charset="-122"/>
                <a:cs typeface="Cambria" pitchFamily="34" charset="-120"/>
              </a:rPr>
              <a:t>TỔNG QUAN BÀI TOÁN</a:t>
            </a:r>
            <a:endParaRPr lang="en-US" sz="3000" dirty="0"/>
          </a:p>
        </p:txBody>
      </p:sp>
      <p:sp>
        <p:nvSpPr>
          <p:cNvPr id="3" name="Shape 1"/>
          <p:cNvSpPr/>
          <p:nvPr/>
        </p:nvSpPr>
        <p:spPr>
          <a:xfrm>
            <a:off x="548640" y="1170432"/>
            <a:ext cx="11091672" cy="1536192"/>
          </a:xfrm>
          <a:prstGeom prst="roundRect">
            <a:avLst>
              <a:gd name="adj" fmla="val 4762"/>
            </a:avLst>
          </a:prstGeom>
          <a:solidFill>
            <a:srgbClr val="EAF2FB"/>
          </a:solidFill>
          <a:ln/>
          <a:effectLst>
            <a:outerShdw blurRad="76200" dist="25400" dir="5400000" algn="bl" rotWithShape="0">
              <a:srgbClr val="9DB6D6">
                <a:alpha val="35000"/>
              </a:srgbClr>
            </a:outerShdw>
          </a:effectLst>
        </p:spPr>
      </p:sp>
      <p:sp>
        <p:nvSpPr>
          <p:cNvPr id="4" name="Shape 2"/>
          <p:cNvSpPr/>
          <p:nvPr/>
        </p:nvSpPr>
        <p:spPr>
          <a:xfrm>
            <a:off x="868680" y="1549908"/>
            <a:ext cx="777240" cy="777240"/>
          </a:xfrm>
          <a:prstGeom prst="ellipse">
            <a:avLst/>
          </a:prstGeom>
          <a:solidFill>
            <a:srgbClr val="1F5FA8"/>
          </a:solidFill>
          <a:ln/>
        </p:spPr>
      </p:sp>
      <p:pic>
        <p:nvPicPr>
          <p:cNvPr id="5" name="Image 0" descr="target.png"/>
          <p:cNvPicPr>
            <a:picLocks noChangeAspect="1"/>
          </p:cNvPicPr>
          <p:nvPr/>
        </p:nvPicPr>
        <p:blipFill>
          <a:blip r:embed="rId3"/>
          <a:stretch>
            <a:fillRect/>
          </a:stretch>
        </p:blipFill>
        <p:spPr>
          <a:xfrm>
            <a:off x="969721" y="1650949"/>
            <a:ext cx="575158" cy="575158"/>
          </a:xfrm>
          <a:prstGeom prst="rect">
            <a:avLst/>
          </a:prstGeom>
        </p:spPr>
      </p:pic>
      <p:sp>
        <p:nvSpPr>
          <p:cNvPr id="6" name="Text 3"/>
          <p:cNvSpPr/>
          <p:nvPr/>
        </p:nvSpPr>
        <p:spPr>
          <a:xfrm>
            <a:off x="1965960" y="1316736"/>
            <a:ext cx="9308592" cy="365760"/>
          </a:xfrm>
          <a:prstGeom prst="rect">
            <a:avLst/>
          </a:prstGeom>
          <a:noFill/>
          <a:ln/>
        </p:spPr>
        <p:txBody>
          <a:bodyPr wrap="square" rtlCol="0" anchor="ctr"/>
          <a:lstStyle/>
          <a:p>
            <a:pPr marL="0" indent="0">
              <a:buNone/>
            </a:pPr>
            <a:r>
              <a:rPr lang="en-US" sz="1700" b="1" dirty="0">
                <a:solidFill>
                  <a:srgbClr val="0E2A47"/>
                </a:solidFill>
                <a:latin typeface="Cambria" pitchFamily="34" charset="0"/>
                <a:ea typeface="Cambria" pitchFamily="34" charset="-122"/>
                <a:cs typeface="Cambria" pitchFamily="34" charset="-120"/>
              </a:rPr>
              <a:t>Bài toán là gì?</a:t>
            </a:r>
            <a:endParaRPr lang="en-US" sz="1700" dirty="0"/>
          </a:p>
        </p:txBody>
      </p:sp>
      <p:sp>
        <p:nvSpPr>
          <p:cNvPr id="7" name="Text 4"/>
          <p:cNvSpPr/>
          <p:nvPr/>
        </p:nvSpPr>
        <p:spPr>
          <a:xfrm>
            <a:off x="1965960" y="1700784"/>
            <a:ext cx="9308592" cy="896112"/>
          </a:xfrm>
          <a:prstGeom prst="rect">
            <a:avLst/>
          </a:prstGeom>
          <a:noFill/>
          <a:ln/>
        </p:spPr>
        <p:txBody>
          <a:bodyPr wrap="square" rtlCol="0" anchor="t"/>
          <a:lstStyle/>
          <a:p>
            <a:pPr marL="0" indent="0">
              <a:lnSpc>
                <a:spcPct val="115000"/>
              </a:lnSpc>
              <a:buNone/>
            </a:pPr>
            <a:r>
              <a:rPr lang="en-US" sz="1250" dirty="0">
                <a:solidFill>
                  <a:srgbClr val="1A2B3C"/>
                </a:solidFill>
                <a:latin typeface="Calibri" pitchFamily="34" charset="0"/>
                <a:ea typeface="Calibri" pitchFamily="34" charset="-122"/>
                <a:cs typeface="Calibri" pitchFamily="34" charset="-120"/>
              </a:rPr>
              <a:t>Dự đoán rủi ro vỡ nợ (probability of default) của khách hàng thẻ tín dụng vào tháng tiếp theo, kết hợp đề xuất xếp hạng ưu tiên thu hồi nợ cho những khách hàng đã trễ hạn.</a:t>
            </a:r>
            <a:endParaRPr lang="en-US" sz="1250" dirty="0"/>
          </a:p>
        </p:txBody>
      </p:sp>
      <p:sp>
        <p:nvSpPr>
          <p:cNvPr id="8" name="Shape 5"/>
          <p:cNvSpPr/>
          <p:nvPr/>
        </p:nvSpPr>
        <p:spPr>
          <a:xfrm>
            <a:off x="548640" y="2862072"/>
            <a:ext cx="11091672" cy="1536192"/>
          </a:xfrm>
          <a:prstGeom prst="roundRect">
            <a:avLst>
              <a:gd name="adj" fmla="val 4762"/>
            </a:avLst>
          </a:prstGeom>
          <a:solidFill>
            <a:srgbClr val="EAF2FB"/>
          </a:solidFill>
          <a:ln/>
          <a:effectLst>
            <a:outerShdw blurRad="76200" dist="25400" dir="5400000" algn="bl" rotWithShape="0">
              <a:srgbClr val="9DB6D6">
                <a:alpha val="35000"/>
              </a:srgbClr>
            </a:outerShdw>
          </a:effectLst>
        </p:spPr>
      </p:sp>
      <p:sp>
        <p:nvSpPr>
          <p:cNvPr id="9" name="Shape 6"/>
          <p:cNvSpPr/>
          <p:nvPr/>
        </p:nvSpPr>
        <p:spPr>
          <a:xfrm>
            <a:off x="868680" y="3241548"/>
            <a:ext cx="777240" cy="777240"/>
          </a:xfrm>
          <a:prstGeom prst="ellipse">
            <a:avLst/>
          </a:prstGeom>
          <a:solidFill>
            <a:srgbClr val="1F5FA8"/>
          </a:solidFill>
          <a:ln/>
        </p:spPr>
      </p:sp>
      <p:pic>
        <p:nvPicPr>
          <p:cNvPr id="10" name="Image 1" descr="lightbulb.png"/>
          <p:cNvPicPr>
            <a:picLocks noChangeAspect="1"/>
          </p:cNvPicPr>
          <p:nvPr/>
        </p:nvPicPr>
        <p:blipFill>
          <a:blip r:embed="rId4"/>
          <a:stretch>
            <a:fillRect/>
          </a:stretch>
        </p:blipFill>
        <p:spPr>
          <a:xfrm>
            <a:off x="969721" y="3342589"/>
            <a:ext cx="575158" cy="575158"/>
          </a:xfrm>
          <a:prstGeom prst="rect">
            <a:avLst/>
          </a:prstGeom>
        </p:spPr>
      </p:pic>
      <p:sp>
        <p:nvSpPr>
          <p:cNvPr id="11" name="Text 7"/>
          <p:cNvSpPr/>
          <p:nvPr/>
        </p:nvSpPr>
        <p:spPr>
          <a:xfrm>
            <a:off x="1965960" y="3008376"/>
            <a:ext cx="9308592" cy="365760"/>
          </a:xfrm>
          <a:prstGeom prst="rect">
            <a:avLst/>
          </a:prstGeom>
          <a:noFill/>
          <a:ln/>
        </p:spPr>
        <p:txBody>
          <a:bodyPr wrap="square" rtlCol="0" anchor="ctr"/>
          <a:lstStyle/>
          <a:p>
            <a:pPr marL="0" indent="0">
              <a:buNone/>
            </a:pPr>
            <a:r>
              <a:rPr lang="en-US" sz="1700" b="1" dirty="0">
                <a:solidFill>
                  <a:srgbClr val="0E2A47"/>
                </a:solidFill>
                <a:latin typeface="Cambria" pitchFamily="34" charset="0"/>
                <a:ea typeface="Cambria" pitchFamily="34" charset="-122"/>
                <a:cs typeface="Cambria" pitchFamily="34" charset="-120"/>
              </a:rPr>
              <a:t>Lý do chọn đề tài</a:t>
            </a:r>
            <a:endParaRPr lang="en-US" sz="1700" dirty="0"/>
          </a:p>
        </p:txBody>
      </p:sp>
      <p:sp>
        <p:nvSpPr>
          <p:cNvPr id="12" name="Text 8"/>
          <p:cNvSpPr/>
          <p:nvPr/>
        </p:nvSpPr>
        <p:spPr>
          <a:xfrm>
            <a:off x="1965960" y="3374136"/>
            <a:ext cx="9308592" cy="914400"/>
          </a:xfrm>
          <a:prstGeom prst="rect">
            <a:avLst/>
          </a:prstGeom>
          <a:noFill/>
          <a:ln/>
        </p:spPr>
        <p:txBody>
          <a:bodyPr wrap="square" rtlCol="0" anchor="t"/>
          <a:lstStyle/>
          <a:p>
            <a:pPr marL="177800" indent="-177800">
              <a:lnSpc>
                <a:spcPct val="110000"/>
              </a:lnSpc>
              <a:spcAft>
                <a:spcPts val="400"/>
              </a:spcAft>
              <a:buSzPct val="100000"/>
              <a:buChar char="•"/>
            </a:pPr>
            <a:r>
              <a:rPr lang="en-US" sz="1200" dirty="0">
                <a:solidFill>
                  <a:srgbClr val="1A2B3C"/>
                </a:solidFill>
                <a:latin typeface="Calibri" pitchFamily="34" charset="0"/>
                <a:ea typeface="Calibri" pitchFamily="34" charset="-122"/>
                <a:cs typeface="Calibri" pitchFamily="34" charset="-120"/>
              </a:rPr>
              <a:t>Vỡ nợ thẻ tín dụng là vấn đề thực tế của ngành ngân hàng, đặc biệt ở thị trường mới nổi</a:t>
            </a:r>
            <a:endParaRPr lang="en-US" sz="1200" dirty="0"/>
          </a:p>
          <a:p>
            <a:pPr marL="177800" indent="-177800">
              <a:lnSpc>
                <a:spcPct val="110000"/>
              </a:lnSpc>
              <a:spcAft>
                <a:spcPts val="400"/>
              </a:spcAft>
              <a:buSzPct val="100000"/>
              <a:buChar char="•"/>
            </a:pPr>
            <a:r>
              <a:rPr lang="en-US" sz="1200" dirty="0">
                <a:solidFill>
                  <a:srgbClr val="1A2B3C"/>
                </a:solidFill>
                <a:latin typeface="Calibri" pitchFamily="34" charset="0"/>
                <a:ea typeface="Calibri" pitchFamily="34" charset="-122"/>
                <a:cs typeface="Calibri" pitchFamily="34" charset="-120"/>
              </a:rPr>
              <a:t>Có bộ dữ liệu UCI công khai kèm paper gốc Yeh &amp; Lien (2009) để đối chiếu học thuật</a:t>
            </a:r>
            <a:endParaRPr lang="en-US" sz="1200" dirty="0"/>
          </a:p>
          <a:p>
            <a:pPr marL="177800" indent="-177800">
              <a:lnSpc>
                <a:spcPct val="110000"/>
              </a:lnSpc>
              <a:spcAft>
                <a:spcPts val="400"/>
              </a:spcAft>
              <a:buSzPct val="100000"/>
              <a:buChar char="•"/>
            </a:pPr>
            <a:r>
              <a:rPr lang="en-US" sz="1200" dirty="0">
                <a:solidFill>
                  <a:srgbClr val="1A2B3C"/>
                </a:solidFill>
                <a:latin typeface="Calibri" pitchFamily="34" charset="0"/>
                <a:ea typeface="Calibri" pitchFamily="34" charset="-122"/>
                <a:cs typeface="Calibri" pitchFamily="34" charset="-120"/>
              </a:rPr>
              <a:t>Kết hợp giá trị học thuật (so sánh mô hình hiện đại vs. 2009) và giá trị ứng dụng (công cụ hỗ trợ thu hồi nợ)</a:t>
            </a:r>
            <a:endParaRPr lang="en-US" sz="1200" dirty="0"/>
          </a:p>
        </p:txBody>
      </p:sp>
      <p:sp>
        <p:nvSpPr>
          <p:cNvPr id="13" name="Shape 9"/>
          <p:cNvSpPr/>
          <p:nvPr/>
        </p:nvSpPr>
        <p:spPr>
          <a:xfrm>
            <a:off x="548640" y="4553712"/>
            <a:ext cx="11091672" cy="1536192"/>
          </a:xfrm>
          <a:prstGeom prst="roundRect">
            <a:avLst>
              <a:gd name="adj" fmla="val 4762"/>
            </a:avLst>
          </a:prstGeom>
          <a:solidFill>
            <a:srgbClr val="EAF2FB"/>
          </a:solidFill>
          <a:ln/>
          <a:effectLst>
            <a:outerShdw blurRad="76200" dist="25400" dir="5400000" algn="bl" rotWithShape="0">
              <a:srgbClr val="9DB6D6">
                <a:alpha val="35000"/>
              </a:srgbClr>
            </a:outerShdw>
          </a:effectLst>
        </p:spPr>
      </p:sp>
      <p:sp>
        <p:nvSpPr>
          <p:cNvPr id="14" name="Shape 10"/>
          <p:cNvSpPr/>
          <p:nvPr/>
        </p:nvSpPr>
        <p:spPr>
          <a:xfrm>
            <a:off x="868680" y="4933188"/>
            <a:ext cx="777240" cy="777240"/>
          </a:xfrm>
          <a:prstGeom prst="ellipse">
            <a:avLst/>
          </a:prstGeom>
          <a:solidFill>
            <a:srgbClr val="1F5FA8"/>
          </a:solidFill>
          <a:ln/>
        </p:spPr>
      </p:sp>
      <p:pic>
        <p:nvPicPr>
          <p:cNvPr id="15" name="Image 2" descr="layers.png"/>
          <p:cNvPicPr>
            <a:picLocks noChangeAspect="1"/>
          </p:cNvPicPr>
          <p:nvPr/>
        </p:nvPicPr>
        <p:blipFill>
          <a:blip r:embed="rId5"/>
          <a:stretch>
            <a:fillRect/>
          </a:stretch>
        </p:blipFill>
        <p:spPr>
          <a:xfrm>
            <a:off x="969721" y="5034229"/>
            <a:ext cx="575158" cy="575158"/>
          </a:xfrm>
          <a:prstGeom prst="rect">
            <a:avLst/>
          </a:prstGeom>
        </p:spPr>
      </p:pic>
      <p:sp>
        <p:nvSpPr>
          <p:cNvPr id="16" name="Text 11"/>
          <p:cNvSpPr/>
          <p:nvPr/>
        </p:nvSpPr>
        <p:spPr>
          <a:xfrm>
            <a:off x="1965960" y="4700016"/>
            <a:ext cx="9308592" cy="365760"/>
          </a:xfrm>
          <a:prstGeom prst="rect">
            <a:avLst/>
          </a:prstGeom>
          <a:noFill/>
          <a:ln/>
        </p:spPr>
        <p:txBody>
          <a:bodyPr wrap="square" rtlCol="0" anchor="ctr"/>
          <a:lstStyle/>
          <a:p>
            <a:pPr marL="0" indent="0">
              <a:buNone/>
            </a:pPr>
            <a:r>
              <a:rPr lang="en-US" sz="1700" b="1" dirty="0">
                <a:solidFill>
                  <a:srgbClr val="0E2A47"/>
                </a:solidFill>
                <a:latin typeface="Cambria" pitchFamily="34" charset="0"/>
                <a:ea typeface="Cambria" pitchFamily="34" charset="-122"/>
                <a:cs typeface="Cambria" pitchFamily="34" charset="-120"/>
              </a:rPr>
              <a:t>Bài toán giải quyết cụ thể</a:t>
            </a:r>
            <a:endParaRPr lang="en-US" sz="1700" dirty="0"/>
          </a:p>
        </p:txBody>
      </p:sp>
      <p:sp>
        <p:nvSpPr>
          <p:cNvPr id="17" name="Text 12"/>
          <p:cNvSpPr/>
          <p:nvPr/>
        </p:nvSpPr>
        <p:spPr>
          <a:xfrm>
            <a:off x="1965960" y="5065776"/>
            <a:ext cx="4517136" cy="914400"/>
          </a:xfrm>
          <a:prstGeom prst="rect">
            <a:avLst/>
          </a:prstGeom>
          <a:noFill/>
          <a:ln/>
        </p:spPr>
        <p:txBody>
          <a:bodyPr wrap="square" rtlCol="0" anchor="t"/>
          <a:lstStyle/>
          <a:p>
            <a:pPr marL="0" indent="0">
              <a:lnSpc>
                <a:spcPct val="112000"/>
              </a:lnSpc>
              <a:spcAft>
                <a:spcPts val="200"/>
              </a:spcAft>
              <a:buNone/>
            </a:pPr>
            <a:r>
              <a:rPr lang="en-US" sz="1250" b="1" dirty="0">
                <a:solidFill>
                  <a:srgbClr val="1F5FA8"/>
                </a:solidFill>
                <a:latin typeface="Calibri" pitchFamily="34" charset="0"/>
                <a:ea typeface="Calibri" pitchFamily="34" charset="-122"/>
                <a:cs typeface="Calibri" pitchFamily="34" charset="-120"/>
              </a:rPr>
              <a:t>Predictive analytics</a:t>
            </a:r>
            <a:endParaRPr lang="en-US" sz="1250" dirty="0"/>
          </a:p>
          <a:p>
            <a:pPr marL="0" indent="0">
              <a:lnSpc>
                <a:spcPct val="112000"/>
              </a:lnSpc>
              <a:spcAft>
                <a:spcPts val="200"/>
              </a:spcAft>
              <a:buNone/>
            </a:pPr>
            <a:r>
              <a:rPr lang="en-US" sz="1150" dirty="0">
                <a:solidFill>
                  <a:srgbClr val="1A2B3C"/>
                </a:solidFill>
                <a:latin typeface="Calibri" pitchFamily="34" charset="0"/>
                <a:ea typeface="Calibri" pitchFamily="34" charset="-122"/>
                <a:cs typeface="Calibri" pitchFamily="34" charset="-120"/>
              </a:rPr>
              <a:t>Phân loại nhị phân dự đoán xác suất vỡ nợ risk_score bằng 4 mô hình: Logistic Regression, Random Forest, XGBoost, Neural Network</a:t>
            </a:r>
            <a:endParaRPr lang="en-US" sz="1250" dirty="0"/>
          </a:p>
        </p:txBody>
      </p:sp>
      <p:sp>
        <p:nvSpPr>
          <p:cNvPr id="18" name="Text 13"/>
          <p:cNvSpPr/>
          <p:nvPr/>
        </p:nvSpPr>
        <p:spPr>
          <a:xfrm>
            <a:off x="6757416" y="5065776"/>
            <a:ext cx="4517136" cy="914400"/>
          </a:xfrm>
          <a:prstGeom prst="rect">
            <a:avLst/>
          </a:prstGeom>
          <a:noFill/>
          <a:ln/>
        </p:spPr>
        <p:txBody>
          <a:bodyPr wrap="square" rtlCol="0" anchor="t"/>
          <a:lstStyle/>
          <a:p>
            <a:pPr marL="0" indent="0">
              <a:lnSpc>
                <a:spcPct val="112000"/>
              </a:lnSpc>
              <a:spcAft>
                <a:spcPts val="200"/>
              </a:spcAft>
              <a:buNone/>
            </a:pPr>
            <a:r>
              <a:rPr lang="en-US" sz="1250" b="1" dirty="0">
                <a:solidFill>
                  <a:srgbClr val="1F5FA8"/>
                </a:solidFill>
                <a:latin typeface="Calibri" pitchFamily="34" charset="0"/>
                <a:ea typeface="Calibri" pitchFamily="34" charset="-122"/>
                <a:cs typeface="Calibri" pitchFamily="34" charset="-120"/>
              </a:rPr>
              <a:t>Prescriptive analytics</a:t>
            </a:r>
            <a:endParaRPr lang="en-US" sz="1250" dirty="0"/>
          </a:p>
          <a:p>
            <a:pPr marL="0" indent="0">
              <a:lnSpc>
                <a:spcPct val="112000"/>
              </a:lnSpc>
              <a:spcAft>
                <a:spcPts val="200"/>
              </a:spcAft>
              <a:buNone/>
            </a:pPr>
            <a:r>
              <a:rPr lang="en-US" sz="1150" dirty="0">
                <a:solidFill>
                  <a:srgbClr val="1A2B3C"/>
                </a:solidFill>
                <a:latin typeface="Calibri" pitchFamily="34" charset="0"/>
                <a:ea typeface="Calibri" pitchFamily="34" charset="-122"/>
                <a:cs typeface="Calibri" pitchFamily="34" charset="-120"/>
              </a:rPr>
              <a:t>Công thức xếp hạng rule-based priority_score = risk_score × delay_severity để xác định khách hàng cần ưu tiên liên hệ thu hồi nợ</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11091672" cy="502920"/>
          </a:xfrm>
          <a:prstGeom prst="rect">
            <a:avLst/>
          </a:prstGeom>
          <a:noFill/>
          <a:ln/>
        </p:spPr>
        <p:txBody>
          <a:bodyPr wrap="square" rtlCol="0" anchor="ctr"/>
          <a:lstStyle/>
          <a:p>
            <a:pPr marL="0" indent="0">
              <a:buNone/>
            </a:pPr>
            <a:r>
              <a:rPr lang="en-US" sz="2800" b="1" dirty="0">
                <a:solidFill>
                  <a:srgbClr val="0E2A47"/>
                </a:solidFill>
                <a:latin typeface="Cambria" pitchFamily="34" charset="0"/>
                <a:ea typeface="Cambria" pitchFamily="34" charset="-122"/>
                <a:cs typeface="Cambria" pitchFamily="34" charset="-120"/>
              </a:rPr>
              <a:t>DATASET &amp; QUY TRÌNH XỬ LÝ</a:t>
            </a:r>
            <a:endParaRPr lang="en-US" sz="2800" dirty="0"/>
          </a:p>
        </p:txBody>
      </p:sp>
      <p:sp>
        <p:nvSpPr>
          <p:cNvPr id="3" name="Text 1"/>
          <p:cNvSpPr/>
          <p:nvPr/>
        </p:nvSpPr>
        <p:spPr>
          <a:xfrm>
            <a:off x="548640" y="786384"/>
            <a:ext cx="11091672" cy="320040"/>
          </a:xfrm>
          <a:prstGeom prst="rect">
            <a:avLst/>
          </a:prstGeom>
          <a:noFill/>
          <a:ln/>
        </p:spPr>
        <p:txBody>
          <a:bodyPr wrap="square" rtlCol="0" anchor="ctr"/>
          <a:lstStyle/>
          <a:p>
            <a:pPr marL="0" indent="0">
              <a:buNone/>
            </a:pPr>
            <a:r>
              <a:rPr lang="en-US" sz="1300" i="1" dirty="0">
                <a:solidFill>
                  <a:srgbClr val="5B7290"/>
                </a:solidFill>
                <a:latin typeface="Calibri" pitchFamily="34" charset="0"/>
                <a:ea typeface="Calibri" pitchFamily="34" charset="-122"/>
                <a:cs typeface="Calibri" pitchFamily="34" charset="-120"/>
              </a:rPr>
              <a:t>UCI "Default of Credit Card Clients" — 30.000 khách hàng thẻ tín dụng tại Đài Loan</a:t>
            </a:r>
            <a:endParaRPr lang="en-US" sz="1300" dirty="0"/>
          </a:p>
        </p:txBody>
      </p:sp>
      <p:sp>
        <p:nvSpPr>
          <p:cNvPr id="4" name="Shape 2"/>
          <p:cNvSpPr/>
          <p:nvPr/>
        </p:nvSpPr>
        <p:spPr>
          <a:xfrm>
            <a:off x="550012" y="1234440"/>
            <a:ext cx="3566160" cy="1051560"/>
          </a:xfrm>
          <a:prstGeom prst="roundRect">
            <a:avLst>
              <a:gd name="adj" fmla="val 6087"/>
            </a:avLst>
          </a:prstGeom>
          <a:solidFill>
            <a:srgbClr val="EAF2FB"/>
          </a:solidFill>
          <a:ln/>
        </p:spPr>
      </p:sp>
      <p:sp>
        <p:nvSpPr>
          <p:cNvPr id="5" name="Shape 3"/>
          <p:cNvSpPr/>
          <p:nvPr/>
        </p:nvSpPr>
        <p:spPr>
          <a:xfrm>
            <a:off x="732892" y="1431036"/>
            <a:ext cx="658368" cy="658368"/>
          </a:xfrm>
          <a:prstGeom prst="ellipse">
            <a:avLst/>
          </a:prstGeom>
          <a:solidFill>
            <a:srgbClr val="1F5FA8"/>
          </a:solidFill>
          <a:ln/>
        </p:spPr>
      </p:sp>
      <p:pic>
        <p:nvPicPr>
          <p:cNvPr id="6" name="Image 0" descr="stat_users.png"/>
          <p:cNvPicPr>
            <a:picLocks noChangeAspect="1"/>
          </p:cNvPicPr>
          <p:nvPr/>
        </p:nvPicPr>
        <p:blipFill>
          <a:blip r:embed="rId3"/>
          <a:stretch>
            <a:fillRect/>
          </a:stretch>
        </p:blipFill>
        <p:spPr>
          <a:xfrm>
            <a:off x="818479" y="1516624"/>
            <a:ext cx="487192" cy="487192"/>
          </a:xfrm>
          <a:prstGeom prst="rect">
            <a:avLst/>
          </a:prstGeom>
        </p:spPr>
      </p:pic>
      <p:sp>
        <p:nvSpPr>
          <p:cNvPr id="7" name="Text 4"/>
          <p:cNvSpPr/>
          <p:nvPr/>
        </p:nvSpPr>
        <p:spPr>
          <a:xfrm>
            <a:off x="1510132" y="1344168"/>
            <a:ext cx="2468880" cy="457200"/>
          </a:xfrm>
          <a:prstGeom prst="rect">
            <a:avLst/>
          </a:prstGeom>
          <a:noFill/>
          <a:ln/>
        </p:spPr>
        <p:txBody>
          <a:bodyPr wrap="square" rtlCol="0" anchor="ctr"/>
          <a:lstStyle/>
          <a:p>
            <a:pPr marL="0" indent="0">
              <a:buNone/>
            </a:pPr>
            <a:r>
              <a:rPr lang="en-US" sz="2100" b="1" dirty="0">
                <a:solidFill>
                  <a:srgbClr val="0E2A47"/>
                </a:solidFill>
                <a:latin typeface="Cambria" pitchFamily="34" charset="0"/>
                <a:ea typeface="Cambria" pitchFamily="34" charset="-122"/>
                <a:cs typeface="Cambria" pitchFamily="34" charset="-120"/>
              </a:rPr>
              <a:t>30,000</a:t>
            </a:r>
            <a:endParaRPr lang="en-US" sz="2100" dirty="0"/>
          </a:p>
        </p:txBody>
      </p:sp>
      <p:sp>
        <p:nvSpPr>
          <p:cNvPr id="8" name="Text 5"/>
          <p:cNvSpPr/>
          <p:nvPr/>
        </p:nvSpPr>
        <p:spPr>
          <a:xfrm>
            <a:off x="1510132" y="1801368"/>
            <a:ext cx="2468880" cy="384048"/>
          </a:xfrm>
          <a:prstGeom prst="rect">
            <a:avLst/>
          </a:prstGeom>
          <a:noFill/>
          <a:ln/>
        </p:spPr>
        <p:txBody>
          <a:bodyPr wrap="square" rtlCol="0" anchor="t"/>
          <a:lstStyle/>
          <a:p>
            <a:pPr marL="0" indent="0">
              <a:buNone/>
            </a:pPr>
            <a:r>
              <a:rPr lang="en-US" sz="1050" dirty="0">
                <a:solidFill>
                  <a:srgbClr val="5B7290"/>
                </a:solidFill>
                <a:latin typeface="Calibri" pitchFamily="34" charset="0"/>
                <a:ea typeface="Calibri" pitchFamily="34" charset="-122"/>
                <a:cs typeface="Calibri" pitchFamily="34" charset="-120"/>
              </a:rPr>
              <a:t>Khách hàng thẻ tín dụng</a:t>
            </a:r>
            <a:endParaRPr lang="en-US" sz="1050" dirty="0"/>
          </a:p>
        </p:txBody>
      </p:sp>
      <p:sp>
        <p:nvSpPr>
          <p:cNvPr id="9" name="Shape 6"/>
          <p:cNvSpPr/>
          <p:nvPr/>
        </p:nvSpPr>
        <p:spPr>
          <a:xfrm>
            <a:off x="4312768" y="1234440"/>
            <a:ext cx="3566160" cy="1051560"/>
          </a:xfrm>
          <a:prstGeom prst="roundRect">
            <a:avLst>
              <a:gd name="adj" fmla="val 6087"/>
            </a:avLst>
          </a:prstGeom>
          <a:solidFill>
            <a:srgbClr val="EAF2FB"/>
          </a:solidFill>
          <a:ln/>
        </p:spPr>
      </p:sp>
      <p:sp>
        <p:nvSpPr>
          <p:cNvPr id="10" name="Shape 7"/>
          <p:cNvSpPr/>
          <p:nvPr/>
        </p:nvSpPr>
        <p:spPr>
          <a:xfrm>
            <a:off x="4495648" y="1431036"/>
            <a:ext cx="658368" cy="658368"/>
          </a:xfrm>
          <a:prstGeom prst="ellipse">
            <a:avLst/>
          </a:prstGeom>
          <a:solidFill>
            <a:srgbClr val="1F5FA8"/>
          </a:solidFill>
          <a:ln/>
        </p:spPr>
      </p:sp>
      <p:pic>
        <p:nvPicPr>
          <p:cNvPr id="11" name="Image 1" descr="stat_db.png"/>
          <p:cNvPicPr>
            <a:picLocks noChangeAspect="1"/>
          </p:cNvPicPr>
          <p:nvPr/>
        </p:nvPicPr>
        <p:blipFill>
          <a:blip r:embed="rId4"/>
          <a:stretch>
            <a:fillRect/>
          </a:stretch>
        </p:blipFill>
        <p:spPr>
          <a:xfrm>
            <a:off x="4581235" y="1516624"/>
            <a:ext cx="487192" cy="487192"/>
          </a:xfrm>
          <a:prstGeom prst="rect">
            <a:avLst/>
          </a:prstGeom>
        </p:spPr>
      </p:pic>
      <p:sp>
        <p:nvSpPr>
          <p:cNvPr id="12" name="Text 8"/>
          <p:cNvSpPr/>
          <p:nvPr/>
        </p:nvSpPr>
        <p:spPr>
          <a:xfrm>
            <a:off x="5272888" y="1344168"/>
            <a:ext cx="2468880" cy="457200"/>
          </a:xfrm>
          <a:prstGeom prst="rect">
            <a:avLst/>
          </a:prstGeom>
          <a:noFill/>
          <a:ln/>
        </p:spPr>
        <p:txBody>
          <a:bodyPr wrap="square" rtlCol="0" anchor="ctr"/>
          <a:lstStyle/>
          <a:p>
            <a:pPr marL="0" indent="0">
              <a:buNone/>
            </a:pPr>
            <a:r>
              <a:rPr lang="en-US" sz="2100" b="1" dirty="0">
                <a:solidFill>
                  <a:srgbClr val="0E2A47"/>
                </a:solidFill>
                <a:latin typeface="Cambria" pitchFamily="34" charset="0"/>
                <a:ea typeface="Cambria" pitchFamily="34" charset="-122"/>
                <a:cs typeface="Cambria" pitchFamily="34" charset="-120"/>
              </a:rPr>
              <a:t>23</a:t>
            </a:r>
            <a:endParaRPr lang="en-US" sz="2100" dirty="0"/>
          </a:p>
        </p:txBody>
      </p:sp>
      <p:sp>
        <p:nvSpPr>
          <p:cNvPr id="13" name="Text 9"/>
          <p:cNvSpPr/>
          <p:nvPr/>
        </p:nvSpPr>
        <p:spPr>
          <a:xfrm>
            <a:off x="5272888" y="1801368"/>
            <a:ext cx="2468880" cy="384048"/>
          </a:xfrm>
          <a:prstGeom prst="rect">
            <a:avLst/>
          </a:prstGeom>
          <a:noFill/>
          <a:ln/>
        </p:spPr>
        <p:txBody>
          <a:bodyPr wrap="square" rtlCol="0" anchor="t"/>
          <a:lstStyle/>
          <a:p>
            <a:pPr marL="0" indent="0">
              <a:buNone/>
            </a:pPr>
            <a:r>
              <a:rPr lang="en-US" sz="1050" dirty="0">
                <a:solidFill>
                  <a:srgbClr val="5B7290"/>
                </a:solidFill>
                <a:latin typeface="Calibri" pitchFamily="34" charset="0"/>
                <a:ea typeface="Calibri" pitchFamily="34" charset="-122"/>
                <a:cs typeface="Calibri" pitchFamily="34" charset="-120"/>
              </a:rPr>
              <a:t>Biến đầu vào + 1 biến mục tiêu</a:t>
            </a:r>
            <a:endParaRPr lang="en-US" sz="1050" dirty="0"/>
          </a:p>
        </p:txBody>
      </p:sp>
      <p:sp>
        <p:nvSpPr>
          <p:cNvPr id="14" name="Shape 10"/>
          <p:cNvSpPr/>
          <p:nvPr/>
        </p:nvSpPr>
        <p:spPr>
          <a:xfrm>
            <a:off x="8075524" y="1234440"/>
            <a:ext cx="3566160" cy="1051560"/>
          </a:xfrm>
          <a:prstGeom prst="roundRect">
            <a:avLst>
              <a:gd name="adj" fmla="val 6087"/>
            </a:avLst>
          </a:prstGeom>
          <a:solidFill>
            <a:srgbClr val="EAF2FB"/>
          </a:solidFill>
          <a:ln/>
        </p:spPr>
      </p:sp>
      <p:sp>
        <p:nvSpPr>
          <p:cNvPr id="15" name="Shape 11"/>
          <p:cNvSpPr/>
          <p:nvPr/>
        </p:nvSpPr>
        <p:spPr>
          <a:xfrm>
            <a:off x="8258404" y="1431036"/>
            <a:ext cx="658368" cy="658368"/>
          </a:xfrm>
          <a:prstGeom prst="ellipse">
            <a:avLst/>
          </a:prstGeom>
          <a:solidFill>
            <a:srgbClr val="1F5FA8"/>
          </a:solidFill>
          <a:ln/>
        </p:spPr>
      </p:sp>
      <p:pic>
        <p:nvPicPr>
          <p:cNvPr id="16" name="Image 2" descr="stat_alert.png"/>
          <p:cNvPicPr>
            <a:picLocks noChangeAspect="1"/>
          </p:cNvPicPr>
          <p:nvPr/>
        </p:nvPicPr>
        <p:blipFill>
          <a:blip r:embed="rId5"/>
          <a:stretch>
            <a:fillRect/>
          </a:stretch>
        </p:blipFill>
        <p:spPr>
          <a:xfrm>
            <a:off x="8343991" y="1516624"/>
            <a:ext cx="487192" cy="487192"/>
          </a:xfrm>
          <a:prstGeom prst="rect">
            <a:avLst/>
          </a:prstGeom>
        </p:spPr>
      </p:pic>
      <p:sp>
        <p:nvSpPr>
          <p:cNvPr id="17" name="Text 12"/>
          <p:cNvSpPr/>
          <p:nvPr/>
        </p:nvSpPr>
        <p:spPr>
          <a:xfrm>
            <a:off x="9035644" y="1344168"/>
            <a:ext cx="2468880" cy="457200"/>
          </a:xfrm>
          <a:prstGeom prst="rect">
            <a:avLst/>
          </a:prstGeom>
          <a:noFill/>
          <a:ln/>
        </p:spPr>
        <p:txBody>
          <a:bodyPr wrap="square" rtlCol="0" anchor="ctr"/>
          <a:lstStyle/>
          <a:p>
            <a:pPr marL="0" indent="0">
              <a:buNone/>
            </a:pPr>
            <a:r>
              <a:rPr lang="en-US" sz="2100" b="1" dirty="0">
                <a:solidFill>
                  <a:srgbClr val="0E2A47"/>
                </a:solidFill>
                <a:latin typeface="Cambria" pitchFamily="34" charset="0"/>
                <a:ea typeface="Cambria" pitchFamily="34" charset="-122"/>
                <a:cs typeface="Cambria" pitchFamily="34" charset="-120"/>
              </a:rPr>
              <a:t>~22%</a:t>
            </a:r>
            <a:endParaRPr lang="en-US" sz="2100" dirty="0"/>
          </a:p>
        </p:txBody>
      </p:sp>
      <p:sp>
        <p:nvSpPr>
          <p:cNvPr id="18" name="Text 13"/>
          <p:cNvSpPr/>
          <p:nvPr/>
        </p:nvSpPr>
        <p:spPr>
          <a:xfrm>
            <a:off x="9035644" y="1801368"/>
            <a:ext cx="2468880" cy="384048"/>
          </a:xfrm>
          <a:prstGeom prst="rect">
            <a:avLst/>
          </a:prstGeom>
          <a:noFill/>
          <a:ln/>
        </p:spPr>
        <p:txBody>
          <a:bodyPr wrap="square" rtlCol="0" anchor="t"/>
          <a:lstStyle/>
          <a:p>
            <a:pPr marL="0" indent="0">
              <a:buNone/>
            </a:pPr>
            <a:r>
              <a:rPr lang="en-US" sz="1050" dirty="0">
                <a:solidFill>
                  <a:srgbClr val="5B7290"/>
                </a:solidFill>
                <a:latin typeface="Calibri" pitchFamily="34" charset="0"/>
                <a:ea typeface="Calibri" pitchFamily="34" charset="-122"/>
                <a:cs typeface="Calibri" pitchFamily="34" charset="-120"/>
              </a:rPr>
              <a:t>Tỷ lệ vỡ nợ (mất cân bằng)</a:t>
            </a:r>
            <a:endParaRPr lang="en-US" sz="1050" dirty="0"/>
          </a:p>
        </p:txBody>
      </p:sp>
      <p:sp>
        <p:nvSpPr>
          <p:cNvPr id="19" name="Shape 14"/>
          <p:cNvSpPr/>
          <p:nvPr/>
        </p:nvSpPr>
        <p:spPr>
          <a:xfrm>
            <a:off x="550012" y="2450592"/>
            <a:ext cx="3767328" cy="310896"/>
          </a:xfrm>
          <a:prstGeom prst="roundRect">
            <a:avLst>
              <a:gd name="adj" fmla="val 50000"/>
            </a:avLst>
          </a:prstGeom>
          <a:solidFill>
            <a:srgbClr val="1F5FA8"/>
          </a:solidFill>
          <a:ln/>
        </p:spPr>
      </p:sp>
      <p:sp>
        <p:nvSpPr>
          <p:cNvPr id="20" name="Text 15"/>
          <p:cNvSpPr/>
          <p:nvPr/>
        </p:nvSpPr>
        <p:spPr>
          <a:xfrm>
            <a:off x="550012" y="2450592"/>
            <a:ext cx="3767328" cy="310896"/>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Nhân khẩu học: LIMIT_BAL, SEX, EDUCATION, MARRIAGE, AGE</a:t>
            </a:r>
            <a:endParaRPr lang="en-US" sz="900" dirty="0"/>
          </a:p>
        </p:txBody>
      </p:sp>
      <p:sp>
        <p:nvSpPr>
          <p:cNvPr id="21" name="Shape 16"/>
          <p:cNvSpPr/>
          <p:nvPr/>
        </p:nvSpPr>
        <p:spPr>
          <a:xfrm>
            <a:off x="4463644" y="2450592"/>
            <a:ext cx="2055571" cy="310896"/>
          </a:xfrm>
          <a:prstGeom prst="roundRect">
            <a:avLst>
              <a:gd name="adj" fmla="val 50000"/>
            </a:avLst>
          </a:prstGeom>
          <a:solidFill>
            <a:srgbClr val="1F5FA8"/>
          </a:solidFill>
          <a:ln/>
        </p:spPr>
      </p:sp>
      <p:sp>
        <p:nvSpPr>
          <p:cNvPr id="22" name="Text 17"/>
          <p:cNvSpPr/>
          <p:nvPr/>
        </p:nvSpPr>
        <p:spPr>
          <a:xfrm>
            <a:off x="4463644" y="2450592"/>
            <a:ext cx="2055571" cy="310896"/>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Lịch sử trả nợ: PAY_1 – PAY_6</a:t>
            </a:r>
            <a:endParaRPr lang="en-US" sz="900" dirty="0"/>
          </a:p>
        </p:txBody>
      </p:sp>
      <p:sp>
        <p:nvSpPr>
          <p:cNvPr id="23" name="Shape 18"/>
          <p:cNvSpPr/>
          <p:nvPr/>
        </p:nvSpPr>
        <p:spPr>
          <a:xfrm>
            <a:off x="6665519" y="2450592"/>
            <a:ext cx="1989734" cy="310896"/>
          </a:xfrm>
          <a:prstGeom prst="roundRect">
            <a:avLst>
              <a:gd name="adj" fmla="val 50000"/>
            </a:avLst>
          </a:prstGeom>
          <a:solidFill>
            <a:srgbClr val="1F5FA8"/>
          </a:solidFill>
          <a:ln/>
        </p:spPr>
      </p:sp>
      <p:sp>
        <p:nvSpPr>
          <p:cNvPr id="24" name="Text 19"/>
          <p:cNvSpPr/>
          <p:nvPr/>
        </p:nvSpPr>
        <p:spPr>
          <a:xfrm>
            <a:off x="6665519" y="2450592"/>
            <a:ext cx="1989734" cy="310896"/>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Dư nợ hoá đơn: BILL_AMT1 – 6</a:t>
            </a:r>
            <a:endParaRPr lang="en-US" sz="900" dirty="0"/>
          </a:p>
        </p:txBody>
      </p:sp>
      <p:sp>
        <p:nvSpPr>
          <p:cNvPr id="25" name="Shape 20"/>
          <p:cNvSpPr/>
          <p:nvPr/>
        </p:nvSpPr>
        <p:spPr>
          <a:xfrm>
            <a:off x="8801557" y="2450592"/>
            <a:ext cx="1726387" cy="310896"/>
          </a:xfrm>
          <a:prstGeom prst="roundRect">
            <a:avLst>
              <a:gd name="adj" fmla="val 50000"/>
            </a:avLst>
          </a:prstGeom>
          <a:solidFill>
            <a:srgbClr val="1F5FA8"/>
          </a:solidFill>
          <a:ln/>
        </p:spPr>
      </p:sp>
      <p:sp>
        <p:nvSpPr>
          <p:cNvPr id="26" name="Text 21"/>
          <p:cNvSpPr/>
          <p:nvPr/>
        </p:nvSpPr>
        <p:spPr>
          <a:xfrm>
            <a:off x="8801557" y="2450592"/>
            <a:ext cx="1726387" cy="310896"/>
          </a:xfrm>
          <a:prstGeom prst="rect">
            <a:avLst/>
          </a:prstGeom>
          <a:noFill/>
          <a:ln/>
        </p:spPr>
        <p:txBody>
          <a:bodyPr wrap="square" rtlCol="0" anchor="ctr"/>
          <a:lstStyle/>
          <a:p>
            <a:pPr marL="0" indent="0" algn="ctr">
              <a:buNone/>
            </a:pPr>
            <a:r>
              <a:rPr lang="en-US" sz="900" dirty="0">
                <a:solidFill>
                  <a:srgbClr val="FFFFFF"/>
                </a:solidFill>
                <a:latin typeface="Calibri" pitchFamily="34" charset="0"/>
                <a:ea typeface="Calibri" pitchFamily="34" charset="-122"/>
                <a:cs typeface="Calibri" pitchFamily="34" charset="-120"/>
              </a:rPr>
              <a:t>Thanh toán: PAY_AMT1 – 6</a:t>
            </a:r>
            <a:endParaRPr lang="en-US" sz="900" dirty="0"/>
          </a:p>
        </p:txBody>
      </p:sp>
      <p:sp>
        <p:nvSpPr>
          <p:cNvPr id="27" name="Text 22"/>
          <p:cNvSpPr/>
          <p:nvPr/>
        </p:nvSpPr>
        <p:spPr>
          <a:xfrm>
            <a:off x="548640" y="3035808"/>
            <a:ext cx="11091672" cy="320040"/>
          </a:xfrm>
          <a:prstGeom prst="rect">
            <a:avLst/>
          </a:prstGeom>
          <a:noFill/>
          <a:ln/>
        </p:spPr>
        <p:txBody>
          <a:bodyPr wrap="square" rtlCol="0" anchor="ctr"/>
          <a:lstStyle/>
          <a:p>
            <a:pPr marL="0" indent="0">
              <a:buNone/>
            </a:pPr>
            <a:r>
              <a:rPr lang="en-US" sz="1200" b="1" dirty="0">
                <a:solidFill>
                  <a:srgbClr val="1F5FA8"/>
                </a:solidFill>
                <a:latin typeface="Calibri" pitchFamily="34" charset="0"/>
                <a:ea typeface="Calibri" pitchFamily="34" charset="-122"/>
                <a:cs typeface="Calibri" pitchFamily="34" charset="-120"/>
              </a:rPr>
              <a:t>QUY TRÌNH XỬ LÝ (PIPELINE)</a:t>
            </a:r>
            <a:endParaRPr lang="en-US" sz="1200" dirty="0"/>
          </a:p>
        </p:txBody>
      </p:sp>
      <p:sp>
        <p:nvSpPr>
          <p:cNvPr id="28" name="Shape 23"/>
          <p:cNvSpPr/>
          <p:nvPr/>
        </p:nvSpPr>
        <p:spPr>
          <a:xfrm>
            <a:off x="764896" y="3456432"/>
            <a:ext cx="2514600" cy="1417320"/>
          </a:xfrm>
          <a:prstGeom prst="roundRect">
            <a:avLst>
              <a:gd name="adj" fmla="val 5161"/>
            </a:avLst>
          </a:prstGeom>
          <a:solidFill>
            <a:srgbClr val="EAF2FB"/>
          </a:solidFill>
          <a:ln/>
          <a:effectLst>
            <a:outerShdw blurRad="63500" dist="25400" dir="5400000" algn="bl" rotWithShape="0">
              <a:srgbClr val="9DB6D6">
                <a:alpha val="30000"/>
              </a:srgbClr>
            </a:outerShdw>
          </a:effectLst>
        </p:spPr>
      </p:sp>
      <p:sp>
        <p:nvSpPr>
          <p:cNvPr id="29" name="Shape 24"/>
          <p:cNvSpPr/>
          <p:nvPr/>
        </p:nvSpPr>
        <p:spPr>
          <a:xfrm>
            <a:off x="2895448" y="3511296"/>
            <a:ext cx="292608" cy="292608"/>
          </a:xfrm>
          <a:prstGeom prst="ellipse">
            <a:avLst/>
          </a:prstGeom>
          <a:solidFill>
            <a:srgbClr val="0E2A47"/>
          </a:solidFill>
          <a:ln/>
        </p:spPr>
      </p:sp>
      <p:sp>
        <p:nvSpPr>
          <p:cNvPr id="30" name="Text 25"/>
          <p:cNvSpPr/>
          <p:nvPr/>
        </p:nvSpPr>
        <p:spPr>
          <a:xfrm>
            <a:off x="2895448" y="3511296"/>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31" name="Shape 26"/>
          <p:cNvSpPr/>
          <p:nvPr/>
        </p:nvSpPr>
        <p:spPr>
          <a:xfrm>
            <a:off x="1738732" y="3621024"/>
            <a:ext cx="566928" cy="566928"/>
          </a:xfrm>
          <a:prstGeom prst="ellipse">
            <a:avLst/>
          </a:prstGeom>
          <a:solidFill>
            <a:srgbClr val="1F5FA8"/>
          </a:solidFill>
          <a:ln/>
        </p:spPr>
      </p:sp>
      <p:pic>
        <p:nvPicPr>
          <p:cNvPr id="32" name="Image 3" descr="step_filter.png"/>
          <p:cNvPicPr>
            <a:picLocks noChangeAspect="1"/>
          </p:cNvPicPr>
          <p:nvPr/>
        </p:nvPicPr>
        <p:blipFill>
          <a:blip r:embed="rId6"/>
          <a:stretch>
            <a:fillRect/>
          </a:stretch>
        </p:blipFill>
        <p:spPr>
          <a:xfrm>
            <a:off x="1812432" y="3694725"/>
            <a:ext cx="419527" cy="419527"/>
          </a:xfrm>
          <a:prstGeom prst="rect">
            <a:avLst/>
          </a:prstGeom>
        </p:spPr>
      </p:pic>
      <p:sp>
        <p:nvSpPr>
          <p:cNvPr id="33" name="Text 27"/>
          <p:cNvSpPr/>
          <p:nvPr/>
        </p:nvSpPr>
        <p:spPr>
          <a:xfrm>
            <a:off x="874624" y="4325112"/>
            <a:ext cx="2295144" cy="502920"/>
          </a:xfrm>
          <a:prstGeom prst="rect">
            <a:avLst/>
          </a:prstGeom>
          <a:noFill/>
          <a:ln/>
        </p:spPr>
        <p:txBody>
          <a:bodyPr wrap="square" rtlCol="0" anchor="t"/>
          <a:lstStyle/>
          <a:p>
            <a:pPr marL="0" indent="0" algn="ctr">
              <a:lnSpc>
                <a:spcPct val="105000"/>
              </a:lnSpc>
              <a:buNone/>
            </a:pPr>
            <a:r>
              <a:rPr lang="en-US" sz="1150" b="1" dirty="0">
                <a:solidFill>
                  <a:srgbClr val="0E2A47"/>
                </a:solidFill>
                <a:latin typeface="Calibri" pitchFamily="34" charset="0"/>
                <a:ea typeface="Calibri" pitchFamily="34" charset="-122"/>
                <a:cs typeface="Calibri" pitchFamily="34" charset="-120"/>
              </a:rPr>
              <a:t>Làm sạch dữ liệu</a:t>
            </a:r>
            <a:endParaRPr lang="en-US" sz="1150" dirty="0"/>
          </a:p>
        </p:txBody>
      </p:sp>
      <p:sp>
        <p:nvSpPr>
          <p:cNvPr id="34" name="Shape 28"/>
          <p:cNvSpPr/>
          <p:nvPr/>
        </p:nvSpPr>
        <p:spPr>
          <a:xfrm>
            <a:off x="3315706" y="4046220"/>
            <a:ext cx="128748" cy="237744"/>
          </a:xfrm>
          <a:prstGeom prst="chevron">
            <a:avLst/>
          </a:prstGeom>
          <a:solidFill>
            <a:srgbClr val="1F5FA8"/>
          </a:solidFill>
          <a:ln/>
        </p:spPr>
      </p:sp>
      <p:sp>
        <p:nvSpPr>
          <p:cNvPr id="35" name="Shape 29"/>
          <p:cNvSpPr/>
          <p:nvPr/>
        </p:nvSpPr>
        <p:spPr>
          <a:xfrm>
            <a:off x="3480664" y="3456432"/>
            <a:ext cx="2514600" cy="1417320"/>
          </a:xfrm>
          <a:prstGeom prst="roundRect">
            <a:avLst>
              <a:gd name="adj" fmla="val 5161"/>
            </a:avLst>
          </a:prstGeom>
          <a:solidFill>
            <a:srgbClr val="EAF2FB"/>
          </a:solidFill>
          <a:ln/>
          <a:effectLst>
            <a:outerShdw blurRad="63500" dist="25400" dir="5400000" algn="bl" rotWithShape="0">
              <a:srgbClr val="9DB6D6">
                <a:alpha val="30000"/>
              </a:srgbClr>
            </a:outerShdw>
          </a:effectLst>
        </p:spPr>
      </p:sp>
      <p:sp>
        <p:nvSpPr>
          <p:cNvPr id="36" name="Shape 30"/>
          <p:cNvSpPr/>
          <p:nvPr/>
        </p:nvSpPr>
        <p:spPr>
          <a:xfrm>
            <a:off x="5611216" y="3511296"/>
            <a:ext cx="292608" cy="292608"/>
          </a:xfrm>
          <a:prstGeom prst="ellipse">
            <a:avLst/>
          </a:prstGeom>
          <a:solidFill>
            <a:srgbClr val="0E2A47"/>
          </a:solidFill>
          <a:ln/>
        </p:spPr>
      </p:sp>
      <p:sp>
        <p:nvSpPr>
          <p:cNvPr id="37" name="Text 31"/>
          <p:cNvSpPr/>
          <p:nvPr/>
        </p:nvSpPr>
        <p:spPr>
          <a:xfrm>
            <a:off x="5611216" y="3511296"/>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38" name="Shape 32"/>
          <p:cNvSpPr/>
          <p:nvPr/>
        </p:nvSpPr>
        <p:spPr>
          <a:xfrm>
            <a:off x="4454500" y="3621024"/>
            <a:ext cx="566928" cy="566928"/>
          </a:xfrm>
          <a:prstGeom prst="ellipse">
            <a:avLst/>
          </a:prstGeom>
          <a:solidFill>
            <a:srgbClr val="1F5FA8"/>
          </a:solidFill>
          <a:ln/>
        </p:spPr>
      </p:sp>
      <p:pic>
        <p:nvPicPr>
          <p:cNvPr id="39" name="Image 4" descr="step_sliders.png"/>
          <p:cNvPicPr>
            <a:picLocks noChangeAspect="1"/>
          </p:cNvPicPr>
          <p:nvPr/>
        </p:nvPicPr>
        <p:blipFill>
          <a:blip r:embed="rId7"/>
          <a:stretch>
            <a:fillRect/>
          </a:stretch>
        </p:blipFill>
        <p:spPr>
          <a:xfrm>
            <a:off x="4528200" y="3694725"/>
            <a:ext cx="419527" cy="419527"/>
          </a:xfrm>
          <a:prstGeom prst="rect">
            <a:avLst/>
          </a:prstGeom>
        </p:spPr>
      </p:pic>
      <p:sp>
        <p:nvSpPr>
          <p:cNvPr id="40" name="Text 33"/>
          <p:cNvSpPr/>
          <p:nvPr/>
        </p:nvSpPr>
        <p:spPr>
          <a:xfrm>
            <a:off x="3590392" y="4325112"/>
            <a:ext cx="2295144" cy="502920"/>
          </a:xfrm>
          <a:prstGeom prst="rect">
            <a:avLst/>
          </a:prstGeom>
          <a:noFill/>
          <a:ln/>
        </p:spPr>
        <p:txBody>
          <a:bodyPr wrap="square" rtlCol="0" anchor="t"/>
          <a:lstStyle/>
          <a:p>
            <a:pPr marL="0" indent="0" algn="ctr">
              <a:lnSpc>
                <a:spcPct val="105000"/>
              </a:lnSpc>
              <a:buNone/>
            </a:pPr>
            <a:r>
              <a:rPr lang="en-US" sz="1150" b="1" dirty="0">
                <a:solidFill>
                  <a:srgbClr val="0E2A47"/>
                </a:solidFill>
                <a:latin typeface="Calibri" pitchFamily="34" charset="0"/>
                <a:ea typeface="Calibri" pitchFamily="34" charset="-122"/>
                <a:cs typeface="Calibri" pitchFamily="34" charset="-120"/>
              </a:rPr>
              <a:t>Feature Engineering</a:t>
            </a:r>
            <a:endParaRPr lang="en-US" sz="1150" dirty="0"/>
          </a:p>
        </p:txBody>
      </p:sp>
      <p:sp>
        <p:nvSpPr>
          <p:cNvPr id="41" name="Shape 34"/>
          <p:cNvSpPr/>
          <p:nvPr/>
        </p:nvSpPr>
        <p:spPr>
          <a:xfrm>
            <a:off x="6031474" y="4046220"/>
            <a:ext cx="128748" cy="237744"/>
          </a:xfrm>
          <a:prstGeom prst="chevron">
            <a:avLst/>
          </a:prstGeom>
          <a:solidFill>
            <a:srgbClr val="1F5FA8"/>
          </a:solidFill>
          <a:ln/>
        </p:spPr>
      </p:sp>
      <p:sp>
        <p:nvSpPr>
          <p:cNvPr id="42" name="Shape 35"/>
          <p:cNvSpPr/>
          <p:nvPr/>
        </p:nvSpPr>
        <p:spPr>
          <a:xfrm>
            <a:off x="6196432" y="3456432"/>
            <a:ext cx="2514600" cy="1417320"/>
          </a:xfrm>
          <a:prstGeom prst="roundRect">
            <a:avLst>
              <a:gd name="adj" fmla="val 5161"/>
            </a:avLst>
          </a:prstGeom>
          <a:solidFill>
            <a:srgbClr val="EAF2FB"/>
          </a:solidFill>
          <a:ln/>
          <a:effectLst>
            <a:outerShdw blurRad="63500" dist="25400" dir="5400000" algn="bl" rotWithShape="0">
              <a:srgbClr val="9DB6D6">
                <a:alpha val="30000"/>
              </a:srgbClr>
            </a:outerShdw>
          </a:effectLst>
        </p:spPr>
      </p:sp>
      <p:sp>
        <p:nvSpPr>
          <p:cNvPr id="43" name="Shape 36"/>
          <p:cNvSpPr/>
          <p:nvPr/>
        </p:nvSpPr>
        <p:spPr>
          <a:xfrm>
            <a:off x="8326984" y="3511296"/>
            <a:ext cx="292608" cy="292608"/>
          </a:xfrm>
          <a:prstGeom prst="ellipse">
            <a:avLst/>
          </a:prstGeom>
          <a:solidFill>
            <a:srgbClr val="0E2A47"/>
          </a:solidFill>
          <a:ln/>
        </p:spPr>
      </p:sp>
      <p:sp>
        <p:nvSpPr>
          <p:cNvPr id="44" name="Text 37"/>
          <p:cNvSpPr/>
          <p:nvPr/>
        </p:nvSpPr>
        <p:spPr>
          <a:xfrm>
            <a:off x="8326984" y="3511296"/>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5" name="Shape 38"/>
          <p:cNvSpPr/>
          <p:nvPr/>
        </p:nvSpPr>
        <p:spPr>
          <a:xfrm>
            <a:off x="7170268" y="3621024"/>
            <a:ext cx="566928" cy="566928"/>
          </a:xfrm>
          <a:prstGeom prst="ellipse">
            <a:avLst/>
          </a:prstGeom>
          <a:solidFill>
            <a:srgbClr val="1F5FA8"/>
          </a:solidFill>
          <a:ln/>
        </p:spPr>
      </p:sp>
      <p:pic>
        <p:nvPicPr>
          <p:cNvPr id="46" name="Image 5" descr="step_branch.png"/>
          <p:cNvPicPr>
            <a:picLocks noChangeAspect="1"/>
          </p:cNvPicPr>
          <p:nvPr/>
        </p:nvPicPr>
        <p:blipFill>
          <a:blip r:embed="rId8"/>
          <a:stretch>
            <a:fillRect/>
          </a:stretch>
        </p:blipFill>
        <p:spPr>
          <a:xfrm>
            <a:off x="7243968" y="3694725"/>
            <a:ext cx="419527" cy="419527"/>
          </a:xfrm>
          <a:prstGeom prst="rect">
            <a:avLst/>
          </a:prstGeom>
        </p:spPr>
      </p:pic>
      <p:sp>
        <p:nvSpPr>
          <p:cNvPr id="47" name="Text 39"/>
          <p:cNvSpPr/>
          <p:nvPr/>
        </p:nvSpPr>
        <p:spPr>
          <a:xfrm>
            <a:off x="6306160" y="4325112"/>
            <a:ext cx="2295144" cy="502920"/>
          </a:xfrm>
          <a:prstGeom prst="rect">
            <a:avLst/>
          </a:prstGeom>
          <a:noFill/>
          <a:ln/>
        </p:spPr>
        <p:txBody>
          <a:bodyPr wrap="square" rtlCol="0" anchor="t"/>
          <a:lstStyle/>
          <a:p>
            <a:pPr marL="0" indent="0" algn="ctr">
              <a:lnSpc>
                <a:spcPct val="105000"/>
              </a:lnSpc>
              <a:buNone/>
            </a:pPr>
            <a:r>
              <a:rPr lang="en-US" sz="1150" b="1" dirty="0">
                <a:solidFill>
                  <a:srgbClr val="0E2A47"/>
                </a:solidFill>
                <a:latin typeface="Calibri" pitchFamily="34" charset="0"/>
                <a:ea typeface="Calibri" pitchFamily="34" charset="-122"/>
                <a:cs typeface="Calibri" pitchFamily="34" charset="-120"/>
              </a:rPr>
              <a:t>Train / Val / Test Split</a:t>
            </a:r>
            <a:endParaRPr lang="en-US" sz="1150" dirty="0"/>
          </a:p>
        </p:txBody>
      </p:sp>
      <p:sp>
        <p:nvSpPr>
          <p:cNvPr id="48" name="Shape 40"/>
          <p:cNvSpPr/>
          <p:nvPr/>
        </p:nvSpPr>
        <p:spPr>
          <a:xfrm>
            <a:off x="8747242" y="4046220"/>
            <a:ext cx="128748" cy="237744"/>
          </a:xfrm>
          <a:prstGeom prst="chevron">
            <a:avLst/>
          </a:prstGeom>
          <a:solidFill>
            <a:srgbClr val="1F5FA8"/>
          </a:solidFill>
          <a:ln/>
        </p:spPr>
      </p:sp>
      <p:sp>
        <p:nvSpPr>
          <p:cNvPr id="49" name="Shape 41"/>
          <p:cNvSpPr/>
          <p:nvPr/>
        </p:nvSpPr>
        <p:spPr>
          <a:xfrm>
            <a:off x="8912200" y="3456432"/>
            <a:ext cx="2514600" cy="1417320"/>
          </a:xfrm>
          <a:prstGeom prst="roundRect">
            <a:avLst>
              <a:gd name="adj" fmla="val 5161"/>
            </a:avLst>
          </a:prstGeom>
          <a:solidFill>
            <a:srgbClr val="EAF2FB"/>
          </a:solidFill>
          <a:ln/>
          <a:effectLst>
            <a:outerShdw blurRad="63500" dist="25400" dir="5400000" algn="bl" rotWithShape="0">
              <a:srgbClr val="9DB6D6">
                <a:alpha val="30000"/>
              </a:srgbClr>
            </a:outerShdw>
          </a:effectLst>
        </p:spPr>
      </p:sp>
      <p:sp>
        <p:nvSpPr>
          <p:cNvPr id="50" name="Shape 42"/>
          <p:cNvSpPr/>
          <p:nvPr/>
        </p:nvSpPr>
        <p:spPr>
          <a:xfrm>
            <a:off x="11042752" y="3511296"/>
            <a:ext cx="292608" cy="292608"/>
          </a:xfrm>
          <a:prstGeom prst="ellipse">
            <a:avLst/>
          </a:prstGeom>
          <a:solidFill>
            <a:srgbClr val="0E2A47"/>
          </a:solidFill>
          <a:ln/>
        </p:spPr>
      </p:sp>
      <p:sp>
        <p:nvSpPr>
          <p:cNvPr id="51" name="Text 43"/>
          <p:cNvSpPr/>
          <p:nvPr/>
        </p:nvSpPr>
        <p:spPr>
          <a:xfrm>
            <a:off x="11042752" y="3511296"/>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52" name="Shape 44"/>
          <p:cNvSpPr/>
          <p:nvPr/>
        </p:nvSpPr>
        <p:spPr>
          <a:xfrm>
            <a:off x="9886036" y="3621024"/>
            <a:ext cx="566928" cy="566928"/>
          </a:xfrm>
          <a:prstGeom prst="ellipse">
            <a:avLst/>
          </a:prstGeom>
          <a:solidFill>
            <a:srgbClr val="1F5FA8"/>
          </a:solidFill>
          <a:ln/>
        </p:spPr>
      </p:sp>
      <p:pic>
        <p:nvPicPr>
          <p:cNvPr id="53" name="Image 6" descr="step_cpu.png"/>
          <p:cNvPicPr>
            <a:picLocks noChangeAspect="1"/>
          </p:cNvPicPr>
          <p:nvPr/>
        </p:nvPicPr>
        <p:blipFill>
          <a:blip r:embed="rId9"/>
          <a:stretch>
            <a:fillRect/>
          </a:stretch>
        </p:blipFill>
        <p:spPr>
          <a:xfrm>
            <a:off x="9959736" y="3694725"/>
            <a:ext cx="419527" cy="419527"/>
          </a:xfrm>
          <a:prstGeom prst="rect">
            <a:avLst/>
          </a:prstGeom>
        </p:spPr>
      </p:pic>
      <p:sp>
        <p:nvSpPr>
          <p:cNvPr id="54" name="Text 45"/>
          <p:cNvSpPr/>
          <p:nvPr/>
        </p:nvSpPr>
        <p:spPr>
          <a:xfrm>
            <a:off x="9021928" y="4325112"/>
            <a:ext cx="2295144" cy="502920"/>
          </a:xfrm>
          <a:prstGeom prst="rect">
            <a:avLst/>
          </a:prstGeom>
          <a:noFill/>
          <a:ln/>
        </p:spPr>
        <p:txBody>
          <a:bodyPr wrap="square" rtlCol="0" anchor="t"/>
          <a:lstStyle/>
          <a:p>
            <a:pPr marL="0" indent="0" algn="ctr">
              <a:lnSpc>
                <a:spcPct val="105000"/>
              </a:lnSpc>
              <a:buNone/>
            </a:pPr>
            <a:r>
              <a:rPr lang="en-US" sz="1150" b="1" dirty="0">
                <a:solidFill>
                  <a:srgbClr val="0E2A47"/>
                </a:solidFill>
                <a:latin typeface="Calibri" pitchFamily="34" charset="0"/>
                <a:ea typeface="Calibri" pitchFamily="34" charset="-122"/>
                <a:cs typeface="Calibri" pitchFamily="34" charset="-120"/>
              </a:rPr>
              <a:t>Huấn luyện 4 mô hình</a:t>
            </a:r>
            <a:endParaRPr lang="en-US" sz="1150" dirty="0"/>
          </a:p>
        </p:txBody>
      </p:sp>
      <p:sp>
        <p:nvSpPr>
          <p:cNvPr id="55" name="Shape 46"/>
          <p:cNvSpPr/>
          <p:nvPr/>
        </p:nvSpPr>
        <p:spPr>
          <a:xfrm>
            <a:off x="10169500" y="4873752"/>
            <a:ext cx="0" cy="192024"/>
          </a:xfrm>
          <a:prstGeom prst="line">
            <a:avLst/>
          </a:prstGeom>
          <a:noFill/>
          <a:ln w="25400">
            <a:solidFill>
              <a:srgbClr val="1F5FA8"/>
            </a:solidFill>
            <a:prstDash val="solid"/>
          </a:ln>
        </p:spPr>
      </p:sp>
      <p:sp>
        <p:nvSpPr>
          <p:cNvPr id="56" name="Shape 47"/>
          <p:cNvSpPr/>
          <p:nvPr/>
        </p:nvSpPr>
        <p:spPr>
          <a:xfrm>
            <a:off x="3380080" y="5065776"/>
            <a:ext cx="6789420" cy="0"/>
          </a:xfrm>
          <a:prstGeom prst="line">
            <a:avLst/>
          </a:prstGeom>
          <a:noFill/>
          <a:ln w="25400">
            <a:solidFill>
              <a:srgbClr val="1F5FA8"/>
            </a:solidFill>
            <a:prstDash val="solid"/>
          </a:ln>
        </p:spPr>
      </p:sp>
      <p:sp>
        <p:nvSpPr>
          <p:cNvPr id="57" name="Shape 48"/>
          <p:cNvSpPr/>
          <p:nvPr/>
        </p:nvSpPr>
        <p:spPr>
          <a:xfrm>
            <a:off x="3380080" y="5065776"/>
            <a:ext cx="0" cy="192024"/>
          </a:xfrm>
          <a:prstGeom prst="line">
            <a:avLst/>
          </a:prstGeom>
          <a:noFill/>
          <a:ln w="25400">
            <a:solidFill>
              <a:srgbClr val="1F5FA8"/>
            </a:solidFill>
            <a:prstDash val="solid"/>
            <a:tailEnd type="triangle"/>
          </a:ln>
        </p:spPr>
      </p:sp>
      <p:sp>
        <p:nvSpPr>
          <p:cNvPr id="58" name="Shape 49"/>
          <p:cNvSpPr/>
          <p:nvPr/>
        </p:nvSpPr>
        <p:spPr>
          <a:xfrm>
            <a:off x="2122780" y="5257800"/>
            <a:ext cx="2514600" cy="1417320"/>
          </a:xfrm>
          <a:prstGeom prst="roundRect">
            <a:avLst>
              <a:gd name="adj" fmla="val 5161"/>
            </a:avLst>
          </a:prstGeom>
          <a:solidFill>
            <a:srgbClr val="EAF2FB"/>
          </a:solidFill>
          <a:ln/>
          <a:effectLst>
            <a:outerShdw blurRad="63500" dist="25400" dir="5400000" algn="bl" rotWithShape="0">
              <a:srgbClr val="9DB6D6">
                <a:alpha val="30000"/>
              </a:srgbClr>
            </a:outerShdw>
          </a:effectLst>
        </p:spPr>
      </p:sp>
      <p:sp>
        <p:nvSpPr>
          <p:cNvPr id="59" name="Shape 50"/>
          <p:cNvSpPr/>
          <p:nvPr/>
        </p:nvSpPr>
        <p:spPr>
          <a:xfrm>
            <a:off x="4253332" y="5312664"/>
            <a:ext cx="292608" cy="292608"/>
          </a:xfrm>
          <a:prstGeom prst="ellipse">
            <a:avLst/>
          </a:prstGeom>
          <a:solidFill>
            <a:srgbClr val="0E2A47"/>
          </a:solidFill>
          <a:ln/>
        </p:spPr>
      </p:sp>
      <p:sp>
        <p:nvSpPr>
          <p:cNvPr id="60" name="Text 51"/>
          <p:cNvSpPr/>
          <p:nvPr/>
        </p:nvSpPr>
        <p:spPr>
          <a:xfrm>
            <a:off x="4253332" y="5312664"/>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61" name="Shape 52"/>
          <p:cNvSpPr/>
          <p:nvPr/>
        </p:nvSpPr>
        <p:spPr>
          <a:xfrm>
            <a:off x="3096616" y="5422392"/>
            <a:ext cx="566928" cy="566928"/>
          </a:xfrm>
          <a:prstGeom prst="ellipse">
            <a:avLst/>
          </a:prstGeom>
          <a:solidFill>
            <a:srgbClr val="1F5FA8"/>
          </a:solidFill>
          <a:ln/>
        </p:spPr>
      </p:sp>
      <p:pic>
        <p:nvPicPr>
          <p:cNvPr id="62" name="Image 7" descr="step_chart.png"/>
          <p:cNvPicPr>
            <a:picLocks noChangeAspect="1"/>
          </p:cNvPicPr>
          <p:nvPr/>
        </p:nvPicPr>
        <p:blipFill>
          <a:blip r:embed="rId10"/>
          <a:stretch>
            <a:fillRect/>
          </a:stretch>
        </p:blipFill>
        <p:spPr>
          <a:xfrm>
            <a:off x="3170316" y="5496093"/>
            <a:ext cx="419527" cy="419527"/>
          </a:xfrm>
          <a:prstGeom prst="rect">
            <a:avLst/>
          </a:prstGeom>
        </p:spPr>
      </p:pic>
      <p:sp>
        <p:nvSpPr>
          <p:cNvPr id="63" name="Text 53"/>
          <p:cNvSpPr/>
          <p:nvPr/>
        </p:nvSpPr>
        <p:spPr>
          <a:xfrm>
            <a:off x="2232508" y="6126480"/>
            <a:ext cx="2295144" cy="502920"/>
          </a:xfrm>
          <a:prstGeom prst="rect">
            <a:avLst/>
          </a:prstGeom>
          <a:noFill/>
          <a:ln/>
        </p:spPr>
        <p:txBody>
          <a:bodyPr wrap="square" rtlCol="0" anchor="t"/>
          <a:lstStyle/>
          <a:p>
            <a:pPr marL="0" indent="0" algn="ctr">
              <a:lnSpc>
                <a:spcPct val="105000"/>
              </a:lnSpc>
              <a:buNone/>
            </a:pPr>
            <a:r>
              <a:rPr lang="en-US" sz="1150" b="1" dirty="0">
                <a:solidFill>
                  <a:srgbClr val="0E2A47"/>
                </a:solidFill>
                <a:latin typeface="Calibri" pitchFamily="34" charset="0"/>
                <a:ea typeface="Calibri" pitchFamily="34" charset="-122"/>
                <a:cs typeface="Calibri" pitchFamily="34" charset="-120"/>
              </a:rPr>
              <a:t>Đánh giá &amp; so sánh paper gốc</a:t>
            </a:r>
            <a:endParaRPr lang="en-US" sz="1150" dirty="0"/>
          </a:p>
        </p:txBody>
      </p:sp>
      <p:sp>
        <p:nvSpPr>
          <p:cNvPr id="64" name="Shape 54"/>
          <p:cNvSpPr/>
          <p:nvPr/>
        </p:nvSpPr>
        <p:spPr>
          <a:xfrm>
            <a:off x="4673590" y="5847588"/>
            <a:ext cx="128748" cy="237744"/>
          </a:xfrm>
          <a:prstGeom prst="chevron">
            <a:avLst/>
          </a:prstGeom>
          <a:solidFill>
            <a:srgbClr val="1F5FA8"/>
          </a:solidFill>
          <a:ln/>
        </p:spPr>
      </p:sp>
      <p:sp>
        <p:nvSpPr>
          <p:cNvPr id="65" name="Shape 55"/>
          <p:cNvSpPr/>
          <p:nvPr/>
        </p:nvSpPr>
        <p:spPr>
          <a:xfrm>
            <a:off x="4838548" y="5257800"/>
            <a:ext cx="2514600" cy="1417320"/>
          </a:xfrm>
          <a:prstGeom prst="roundRect">
            <a:avLst>
              <a:gd name="adj" fmla="val 5161"/>
            </a:avLst>
          </a:prstGeom>
          <a:solidFill>
            <a:srgbClr val="EAF2FB"/>
          </a:solidFill>
          <a:ln/>
          <a:effectLst>
            <a:outerShdw blurRad="63500" dist="25400" dir="5400000" algn="bl" rotWithShape="0">
              <a:srgbClr val="9DB6D6">
                <a:alpha val="30000"/>
              </a:srgbClr>
            </a:outerShdw>
          </a:effectLst>
        </p:spPr>
      </p:sp>
      <p:sp>
        <p:nvSpPr>
          <p:cNvPr id="66" name="Shape 56"/>
          <p:cNvSpPr/>
          <p:nvPr/>
        </p:nvSpPr>
        <p:spPr>
          <a:xfrm>
            <a:off x="6969100" y="5312664"/>
            <a:ext cx="292608" cy="292608"/>
          </a:xfrm>
          <a:prstGeom prst="ellipse">
            <a:avLst/>
          </a:prstGeom>
          <a:solidFill>
            <a:srgbClr val="0E2A47"/>
          </a:solidFill>
          <a:ln/>
        </p:spPr>
      </p:sp>
      <p:sp>
        <p:nvSpPr>
          <p:cNvPr id="67" name="Text 57"/>
          <p:cNvSpPr/>
          <p:nvPr/>
        </p:nvSpPr>
        <p:spPr>
          <a:xfrm>
            <a:off x="6969100" y="5312664"/>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68" name="Shape 58"/>
          <p:cNvSpPr/>
          <p:nvPr/>
        </p:nvSpPr>
        <p:spPr>
          <a:xfrm>
            <a:off x="5812384" y="5422392"/>
            <a:ext cx="566928" cy="566928"/>
          </a:xfrm>
          <a:prstGeom prst="ellipse">
            <a:avLst/>
          </a:prstGeom>
          <a:solidFill>
            <a:srgbClr val="1F5FA8"/>
          </a:solidFill>
          <a:ln/>
        </p:spPr>
      </p:sp>
      <p:pic>
        <p:nvPicPr>
          <p:cNvPr id="69" name="Image 8" descr="step_eye.png"/>
          <p:cNvPicPr>
            <a:picLocks noChangeAspect="1"/>
          </p:cNvPicPr>
          <p:nvPr/>
        </p:nvPicPr>
        <p:blipFill>
          <a:blip r:embed="rId11"/>
          <a:stretch>
            <a:fillRect/>
          </a:stretch>
        </p:blipFill>
        <p:spPr>
          <a:xfrm>
            <a:off x="5886084" y="5496093"/>
            <a:ext cx="419527" cy="419527"/>
          </a:xfrm>
          <a:prstGeom prst="rect">
            <a:avLst/>
          </a:prstGeom>
        </p:spPr>
      </p:pic>
      <p:sp>
        <p:nvSpPr>
          <p:cNvPr id="70" name="Text 59"/>
          <p:cNvSpPr/>
          <p:nvPr/>
        </p:nvSpPr>
        <p:spPr>
          <a:xfrm>
            <a:off x="4948276" y="6126480"/>
            <a:ext cx="2295144" cy="502920"/>
          </a:xfrm>
          <a:prstGeom prst="rect">
            <a:avLst/>
          </a:prstGeom>
          <a:noFill/>
          <a:ln/>
        </p:spPr>
        <p:txBody>
          <a:bodyPr wrap="square" rtlCol="0" anchor="t"/>
          <a:lstStyle/>
          <a:p>
            <a:pPr marL="0" indent="0" algn="ctr">
              <a:lnSpc>
                <a:spcPct val="105000"/>
              </a:lnSpc>
              <a:buNone/>
            </a:pPr>
            <a:r>
              <a:rPr lang="en-US" sz="1150" b="1" dirty="0">
                <a:solidFill>
                  <a:srgbClr val="0E2A47"/>
                </a:solidFill>
                <a:latin typeface="Calibri" pitchFamily="34" charset="0"/>
                <a:ea typeface="Calibri" pitchFamily="34" charset="-122"/>
                <a:cs typeface="Calibri" pitchFamily="34" charset="-120"/>
              </a:rPr>
              <a:t>Diễn giải SHAP</a:t>
            </a:r>
            <a:endParaRPr lang="en-US" sz="1150" dirty="0"/>
          </a:p>
        </p:txBody>
      </p:sp>
      <p:sp>
        <p:nvSpPr>
          <p:cNvPr id="71" name="Shape 60"/>
          <p:cNvSpPr/>
          <p:nvPr/>
        </p:nvSpPr>
        <p:spPr>
          <a:xfrm>
            <a:off x="7389358" y="5847588"/>
            <a:ext cx="128748" cy="237744"/>
          </a:xfrm>
          <a:prstGeom prst="chevron">
            <a:avLst/>
          </a:prstGeom>
          <a:solidFill>
            <a:srgbClr val="1F5FA8"/>
          </a:solidFill>
          <a:ln/>
        </p:spPr>
      </p:sp>
      <p:sp>
        <p:nvSpPr>
          <p:cNvPr id="72" name="Shape 61"/>
          <p:cNvSpPr/>
          <p:nvPr/>
        </p:nvSpPr>
        <p:spPr>
          <a:xfrm>
            <a:off x="7554316" y="5257800"/>
            <a:ext cx="2514600" cy="1417320"/>
          </a:xfrm>
          <a:prstGeom prst="roundRect">
            <a:avLst>
              <a:gd name="adj" fmla="val 5161"/>
            </a:avLst>
          </a:prstGeom>
          <a:solidFill>
            <a:srgbClr val="EAF2FB"/>
          </a:solidFill>
          <a:ln/>
          <a:effectLst>
            <a:outerShdw blurRad="63500" dist="25400" dir="5400000" algn="bl" rotWithShape="0">
              <a:srgbClr val="9DB6D6">
                <a:alpha val="30000"/>
              </a:srgbClr>
            </a:outerShdw>
          </a:effectLst>
        </p:spPr>
      </p:sp>
      <p:sp>
        <p:nvSpPr>
          <p:cNvPr id="73" name="Shape 62"/>
          <p:cNvSpPr/>
          <p:nvPr/>
        </p:nvSpPr>
        <p:spPr>
          <a:xfrm>
            <a:off x="9684868" y="5312664"/>
            <a:ext cx="292608" cy="292608"/>
          </a:xfrm>
          <a:prstGeom prst="ellipse">
            <a:avLst/>
          </a:prstGeom>
          <a:solidFill>
            <a:srgbClr val="0E2A47"/>
          </a:solidFill>
          <a:ln/>
        </p:spPr>
      </p:sp>
      <p:sp>
        <p:nvSpPr>
          <p:cNvPr id="74" name="Text 63"/>
          <p:cNvSpPr/>
          <p:nvPr/>
        </p:nvSpPr>
        <p:spPr>
          <a:xfrm>
            <a:off x="9684868" y="5312664"/>
            <a:ext cx="292608" cy="292608"/>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7</a:t>
            </a:r>
            <a:endParaRPr lang="en-US" sz="1200" dirty="0"/>
          </a:p>
        </p:txBody>
      </p:sp>
      <p:sp>
        <p:nvSpPr>
          <p:cNvPr id="75" name="Shape 64"/>
          <p:cNvSpPr/>
          <p:nvPr/>
        </p:nvSpPr>
        <p:spPr>
          <a:xfrm>
            <a:off x="8528152" y="5422392"/>
            <a:ext cx="566928" cy="566928"/>
          </a:xfrm>
          <a:prstGeom prst="ellipse">
            <a:avLst/>
          </a:prstGeom>
          <a:solidFill>
            <a:srgbClr val="1F5FA8"/>
          </a:solidFill>
          <a:ln/>
        </p:spPr>
      </p:sp>
      <p:pic>
        <p:nvPicPr>
          <p:cNvPr id="76" name="Image 9" descr="step_trend.png"/>
          <p:cNvPicPr>
            <a:picLocks noChangeAspect="1"/>
          </p:cNvPicPr>
          <p:nvPr/>
        </p:nvPicPr>
        <p:blipFill>
          <a:blip r:embed="rId12"/>
          <a:stretch>
            <a:fillRect/>
          </a:stretch>
        </p:blipFill>
        <p:spPr>
          <a:xfrm>
            <a:off x="8601852" y="5496093"/>
            <a:ext cx="419527" cy="419527"/>
          </a:xfrm>
          <a:prstGeom prst="rect">
            <a:avLst/>
          </a:prstGeom>
        </p:spPr>
      </p:pic>
      <p:sp>
        <p:nvSpPr>
          <p:cNvPr id="77" name="Text 65"/>
          <p:cNvSpPr/>
          <p:nvPr/>
        </p:nvSpPr>
        <p:spPr>
          <a:xfrm>
            <a:off x="7664044" y="6126480"/>
            <a:ext cx="2295144" cy="502920"/>
          </a:xfrm>
          <a:prstGeom prst="rect">
            <a:avLst/>
          </a:prstGeom>
          <a:noFill/>
          <a:ln/>
        </p:spPr>
        <p:txBody>
          <a:bodyPr wrap="square" rtlCol="0" anchor="t"/>
          <a:lstStyle/>
          <a:p>
            <a:pPr marL="0" indent="0" algn="ctr">
              <a:lnSpc>
                <a:spcPct val="105000"/>
              </a:lnSpc>
              <a:buNone/>
            </a:pPr>
            <a:r>
              <a:rPr lang="en-US" sz="1150" b="1" dirty="0">
                <a:solidFill>
                  <a:srgbClr val="0E2A47"/>
                </a:solidFill>
                <a:latin typeface="Calibri" pitchFamily="34" charset="0"/>
                <a:ea typeface="Calibri" pitchFamily="34" charset="-122"/>
                <a:cs typeface="Calibri" pitchFamily="34" charset="-120"/>
              </a:rPr>
              <a:t>Priority Score &amp; xếp hạng</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91672" cy="548640"/>
          </a:xfrm>
          <a:prstGeom prst="rect">
            <a:avLst/>
          </a:prstGeom>
          <a:noFill/>
          <a:ln/>
        </p:spPr>
        <p:txBody>
          <a:bodyPr wrap="square" rtlCol="0" anchor="ctr"/>
          <a:lstStyle/>
          <a:p>
            <a:pPr marL="0" indent="0">
              <a:buNone/>
            </a:pPr>
            <a:r>
              <a:rPr lang="en-US" sz="3000" b="1" dirty="0">
                <a:solidFill>
                  <a:srgbClr val="0E2A47"/>
                </a:solidFill>
                <a:latin typeface="Cambria" pitchFamily="34" charset="0"/>
                <a:ea typeface="Cambria" pitchFamily="34" charset="-122"/>
                <a:cs typeface="Cambria" pitchFamily="34" charset="-120"/>
              </a:rPr>
              <a:t>ĐỊNH HƯỚNG PHÁT TRIỂN</a:t>
            </a:r>
            <a:endParaRPr lang="en-US" sz="3000" dirty="0"/>
          </a:p>
        </p:txBody>
      </p:sp>
      <p:sp>
        <p:nvSpPr>
          <p:cNvPr id="3" name="Shape 1"/>
          <p:cNvSpPr/>
          <p:nvPr/>
        </p:nvSpPr>
        <p:spPr>
          <a:xfrm>
            <a:off x="548640" y="1170432"/>
            <a:ext cx="11091672" cy="1536192"/>
          </a:xfrm>
          <a:prstGeom prst="roundRect">
            <a:avLst>
              <a:gd name="adj" fmla="val 4762"/>
            </a:avLst>
          </a:prstGeom>
          <a:solidFill>
            <a:srgbClr val="EAF2FB"/>
          </a:solidFill>
          <a:ln/>
          <a:effectLst>
            <a:outerShdw blurRad="76200" dist="25400" dir="5400000" algn="bl" rotWithShape="0">
              <a:srgbClr val="9DB6D6">
                <a:alpha val="35000"/>
              </a:srgbClr>
            </a:outerShdw>
          </a:effectLst>
        </p:spPr>
      </p:sp>
      <p:sp>
        <p:nvSpPr>
          <p:cNvPr id="4" name="Shape 2"/>
          <p:cNvSpPr/>
          <p:nvPr/>
        </p:nvSpPr>
        <p:spPr>
          <a:xfrm>
            <a:off x="868680" y="1549908"/>
            <a:ext cx="777240" cy="777240"/>
          </a:xfrm>
          <a:prstGeom prst="ellipse">
            <a:avLst/>
          </a:prstGeom>
          <a:solidFill>
            <a:srgbClr val="1F5FA8"/>
          </a:solidFill>
          <a:ln/>
        </p:spPr>
      </p:sp>
      <p:pic>
        <p:nvPicPr>
          <p:cNvPr id="5" name="Image 0" descr="research.png"/>
          <p:cNvPicPr>
            <a:picLocks noChangeAspect="1"/>
          </p:cNvPicPr>
          <p:nvPr/>
        </p:nvPicPr>
        <p:blipFill>
          <a:blip r:embed="rId3"/>
          <a:stretch>
            <a:fillRect/>
          </a:stretch>
        </p:blipFill>
        <p:spPr>
          <a:xfrm>
            <a:off x="969721" y="1650949"/>
            <a:ext cx="575158" cy="575158"/>
          </a:xfrm>
          <a:prstGeom prst="rect">
            <a:avLst/>
          </a:prstGeom>
        </p:spPr>
      </p:pic>
      <p:sp>
        <p:nvSpPr>
          <p:cNvPr id="6" name="Text 3"/>
          <p:cNvSpPr/>
          <p:nvPr/>
        </p:nvSpPr>
        <p:spPr>
          <a:xfrm>
            <a:off x="1965960" y="1316736"/>
            <a:ext cx="9308592" cy="365760"/>
          </a:xfrm>
          <a:prstGeom prst="rect">
            <a:avLst/>
          </a:prstGeom>
          <a:noFill/>
          <a:ln/>
        </p:spPr>
        <p:txBody>
          <a:bodyPr wrap="square" rtlCol="0" anchor="ctr"/>
          <a:lstStyle/>
          <a:p>
            <a:pPr marL="0" indent="0">
              <a:buNone/>
            </a:pPr>
            <a:r>
              <a:rPr lang="en-US" sz="1700" b="1" dirty="0">
                <a:solidFill>
                  <a:srgbClr val="0E2A47"/>
                </a:solidFill>
                <a:latin typeface="Cambria" pitchFamily="34" charset="0"/>
                <a:ea typeface="Cambria" pitchFamily="34" charset="-122"/>
                <a:cs typeface="Cambria" pitchFamily="34" charset="-120"/>
              </a:rPr>
              <a:t>Research — Nghiên cứu mở rộng</a:t>
            </a:r>
            <a:endParaRPr lang="en-US" sz="1700" dirty="0"/>
          </a:p>
        </p:txBody>
      </p:sp>
      <p:sp>
        <p:nvSpPr>
          <p:cNvPr id="7" name="Text 4"/>
          <p:cNvSpPr/>
          <p:nvPr/>
        </p:nvSpPr>
        <p:spPr>
          <a:xfrm>
            <a:off x="1965960" y="1682496"/>
            <a:ext cx="9308592" cy="914400"/>
          </a:xfrm>
          <a:prstGeom prst="rect">
            <a:avLst/>
          </a:prstGeom>
          <a:noFill/>
          <a:ln/>
        </p:spPr>
        <p:txBody>
          <a:bodyPr wrap="square" rtlCol="0" anchor="t"/>
          <a:lstStyle/>
          <a:p>
            <a:pPr marL="177800" indent="-177800">
              <a:lnSpc>
                <a:spcPct val="110000"/>
              </a:lnSpc>
              <a:spcAft>
                <a:spcPts val="400"/>
              </a:spcAft>
              <a:buSzPct val="100000"/>
              <a:buChar char="•"/>
            </a:pPr>
            <a:r>
              <a:rPr lang="en-US" sz="1200" dirty="0">
                <a:solidFill>
                  <a:srgbClr val="1A2B3C"/>
                </a:solidFill>
                <a:latin typeface="Calibri" pitchFamily="34" charset="0"/>
                <a:ea typeface="Calibri" pitchFamily="34" charset="-122"/>
                <a:cs typeface="Calibri" pitchFamily="34" charset="-120"/>
              </a:rPr>
              <a:t>Thử nghiệm thêm LightGBM/CatBoost và kỹ thuật ensemble stacking nhiều mô hình</a:t>
            </a:r>
            <a:endParaRPr lang="en-US" sz="1200" dirty="0"/>
          </a:p>
          <a:p>
            <a:pPr marL="177800" indent="-177800">
              <a:lnSpc>
                <a:spcPct val="110000"/>
              </a:lnSpc>
              <a:spcAft>
                <a:spcPts val="400"/>
              </a:spcAft>
              <a:buSzPct val="100000"/>
              <a:buChar char="•"/>
            </a:pPr>
            <a:r>
              <a:rPr lang="en-US" sz="1200" dirty="0">
                <a:solidFill>
                  <a:srgbClr val="1A2B3C"/>
                </a:solidFill>
                <a:latin typeface="Calibri" pitchFamily="34" charset="0"/>
                <a:ea typeface="Calibri" pitchFamily="34" charset="-122"/>
                <a:cs typeface="Calibri" pitchFamily="34" charset="-120"/>
              </a:rPr>
              <a:t>Nghiên cứu sâu hơn kỹ thuật xử lý mất cân bằng dữ liệu (SMOTE, cost-sensitive learning) thay vì chỉ class-weight</a:t>
            </a:r>
            <a:endParaRPr lang="en-US" sz="1200" dirty="0"/>
          </a:p>
          <a:p>
            <a:pPr marL="177800" indent="-177800">
              <a:lnSpc>
                <a:spcPct val="110000"/>
              </a:lnSpc>
              <a:spcAft>
                <a:spcPts val="400"/>
              </a:spcAft>
              <a:buSzPct val="100000"/>
              <a:buChar char="•"/>
            </a:pPr>
            <a:r>
              <a:rPr lang="en-US" sz="1200" dirty="0">
                <a:solidFill>
                  <a:srgbClr val="1A2B3C"/>
                </a:solidFill>
                <a:latin typeface="Calibri" pitchFamily="34" charset="0"/>
                <a:ea typeface="Calibri" pitchFamily="34" charset="-122"/>
                <a:cs typeface="Calibri" pitchFamily="34" charset="-120"/>
              </a:rPr>
              <a:t>Kiểm định thống kê định lượng cho công thức priority_score, thay vì chỉ case study định tính</a:t>
            </a:r>
            <a:endParaRPr lang="en-US" sz="1200" dirty="0"/>
          </a:p>
        </p:txBody>
      </p:sp>
      <p:sp>
        <p:nvSpPr>
          <p:cNvPr id="8" name="Shape 5"/>
          <p:cNvSpPr/>
          <p:nvPr/>
        </p:nvSpPr>
        <p:spPr>
          <a:xfrm>
            <a:off x="548640" y="2862072"/>
            <a:ext cx="11091672" cy="1536192"/>
          </a:xfrm>
          <a:prstGeom prst="roundRect">
            <a:avLst>
              <a:gd name="adj" fmla="val 4762"/>
            </a:avLst>
          </a:prstGeom>
          <a:solidFill>
            <a:srgbClr val="EAF2FB"/>
          </a:solidFill>
          <a:ln/>
          <a:effectLst>
            <a:outerShdw blurRad="76200" dist="25400" dir="5400000" algn="bl" rotWithShape="0">
              <a:srgbClr val="9DB6D6">
                <a:alpha val="35000"/>
              </a:srgbClr>
            </a:outerShdw>
          </a:effectLst>
        </p:spPr>
      </p:sp>
      <p:sp>
        <p:nvSpPr>
          <p:cNvPr id="9" name="Shape 6"/>
          <p:cNvSpPr/>
          <p:nvPr/>
        </p:nvSpPr>
        <p:spPr>
          <a:xfrm>
            <a:off x="868680" y="3241548"/>
            <a:ext cx="777240" cy="777240"/>
          </a:xfrm>
          <a:prstGeom prst="ellipse">
            <a:avLst/>
          </a:prstGeom>
          <a:solidFill>
            <a:srgbClr val="1F5FA8"/>
          </a:solidFill>
          <a:ln/>
        </p:spPr>
      </p:sp>
      <p:pic>
        <p:nvPicPr>
          <p:cNvPr id="10" name="Image 1" descr="rocket.png"/>
          <p:cNvPicPr>
            <a:picLocks noChangeAspect="1"/>
          </p:cNvPicPr>
          <p:nvPr/>
        </p:nvPicPr>
        <p:blipFill>
          <a:blip r:embed="rId4"/>
          <a:stretch>
            <a:fillRect/>
          </a:stretch>
        </p:blipFill>
        <p:spPr>
          <a:xfrm>
            <a:off x="969721" y="3342589"/>
            <a:ext cx="575158" cy="575158"/>
          </a:xfrm>
          <a:prstGeom prst="rect">
            <a:avLst/>
          </a:prstGeom>
        </p:spPr>
      </p:pic>
      <p:sp>
        <p:nvSpPr>
          <p:cNvPr id="11" name="Text 7"/>
          <p:cNvSpPr/>
          <p:nvPr/>
        </p:nvSpPr>
        <p:spPr>
          <a:xfrm>
            <a:off x="1965960" y="3008376"/>
            <a:ext cx="9308592" cy="365760"/>
          </a:xfrm>
          <a:prstGeom prst="rect">
            <a:avLst/>
          </a:prstGeom>
          <a:noFill/>
          <a:ln/>
        </p:spPr>
        <p:txBody>
          <a:bodyPr wrap="square" rtlCol="0" anchor="ctr"/>
          <a:lstStyle/>
          <a:p>
            <a:pPr marL="0" indent="0">
              <a:buNone/>
            </a:pPr>
            <a:r>
              <a:rPr lang="en-US" sz="1700" b="1" dirty="0">
                <a:solidFill>
                  <a:srgbClr val="0E2A47"/>
                </a:solidFill>
                <a:latin typeface="Cambria" pitchFamily="34" charset="0"/>
                <a:ea typeface="Cambria" pitchFamily="34" charset="-122"/>
                <a:cs typeface="Cambria" pitchFamily="34" charset="-120"/>
              </a:rPr>
              <a:t>Ứng dụng thực tế</a:t>
            </a:r>
            <a:endParaRPr lang="en-US" sz="1700" dirty="0"/>
          </a:p>
        </p:txBody>
      </p:sp>
      <p:sp>
        <p:nvSpPr>
          <p:cNvPr id="12" name="Text 8"/>
          <p:cNvSpPr/>
          <p:nvPr/>
        </p:nvSpPr>
        <p:spPr>
          <a:xfrm>
            <a:off x="1965960" y="3374136"/>
            <a:ext cx="9308592" cy="914400"/>
          </a:xfrm>
          <a:prstGeom prst="rect">
            <a:avLst/>
          </a:prstGeom>
          <a:noFill/>
          <a:ln/>
        </p:spPr>
        <p:txBody>
          <a:bodyPr wrap="square" rtlCol="0" anchor="t"/>
          <a:lstStyle/>
          <a:p>
            <a:pPr marL="177800" indent="-177800">
              <a:lnSpc>
                <a:spcPct val="110000"/>
              </a:lnSpc>
              <a:spcAft>
                <a:spcPts val="400"/>
              </a:spcAft>
              <a:buSzPct val="100000"/>
              <a:buChar char="•"/>
            </a:pPr>
            <a:r>
              <a:rPr lang="en-US" sz="1200" dirty="0">
                <a:solidFill>
                  <a:srgbClr val="1A2B3C"/>
                </a:solidFill>
                <a:latin typeface="Calibri" pitchFamily="34" charset="0"/>
                <a:ea typeface="Calibri" pitchFamily="34" charset="-122"/>
                <a:cs typeface="Calibri" pitchFamily="34" charset="-120"/>
              </a:rPr>
              <a:t>Xây dựng API/service tích hợp priority_score vào hệ thống CRM thu hồi nợ thực tế</a:t>
            </a:r>
            <a:endParaRPr lang="en-US" sz="1200" dirty="0"/>
          </a:p>
          <a:p>
            <a:pPr marL="177800" indent="-177800">
              <a:lnSpc>
                <a:spcPct val="110000"/>
              </a:lnSpc>
              <a:spcAft>
                <a:spcPts val="400"/>
              </a:spcAft>
              <a:buSzPct val="100000"/>
              <a:buChar char="•"/>
            </a:pPr>
            <a:r>
              <a:rPr lang="en-US" sz="1200" dirty="0">
                <a:solidFill>
                  <a:srgbClr val="1A2B3C"/>
                </a:solidFill>
                <a:latin typeface="Calibri" pitchFamily="34" charset="0"/>
                <a:ea typeface="Calibri" pitchFamily="34" charset="-122"/>
                <a:cs typeface="Calibri" pitchFamily="34" charset="-120"/>
              </a:rPr>
              <a:t>Dashboard theo dõi danh sách ưu tiên thu hồi nợ theo thời gian thực</a:t>
            </a:r>
            <a:endParaRPr lang="en-US" sz="1200" dirty="0"/>
          </a:p>
          <a:p>
            <a:pPr marL="177800" indent="-177800">
              <a:lnSpc>
                <a:spcPct val="110000"/>
              </a:lnSpc>
              <a:spcAft>
                <a:spcPts val="400"/>
              </a:spcAft>
              <a:buSzPct val="100000"/>
              <a:buChar char="•"/>
            </a:pPr>
            <a:r>
              <a:rPr lang="en-US" sz="1200" dirty="0">
                <a:solidFill>
                  <a:srgbClr val="1A2B3C"/>
                </a:solidFill>
                <a:latin typeface="Calibri" pitchFamily="34" charset="0"/>
                <a:ea typeface="Calibri" pitchFamily="34" charset="-122"/>
                <a:cs typeface="Calibri" pitchFamily="34" charset="-120"/>
              </a:rPr>
              <a:t>A/B testing đo lường hiệu quả thực tế của priority_score trong hoạt động thu hồi nợ</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377</TotalTime>
  <Words>510</Words>
  <Application>Microsoft Office PowerPoint</Application>
  <PresentationFormat>Widescreen</PresentationFormat>
  <Paragraphs>58</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Cambria</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Linh Đoàn</cp:lastModifiedBy>
  <cp:revision>3</cp:revision>
  <dcterms:created xsi:type="dcterms:W3CDTF">2026-07-24T06:59:14Z</dcterms:created>
  <dcterms:modified xsi:type="dcterms:W3CDTF">2026-07-24T13:21:07Z</dcterms:modified>
</cp:coreProperties>
</file>