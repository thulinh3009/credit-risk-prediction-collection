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Tỷ lệ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D52-45E8-BC2B-C6AB25F757C5}"/>
              </c:ext>
            </c:extLst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D52-45E8-BC2B-C6AB25F757C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141B4D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D52-45E8-BC2B-C6AB25F757C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141B4D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D52-45E8-BC2B-C6AB25F757C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Không vỡ nợ (77,88%)</c:v>
                </c:pt>
                <c:pt idx="1">
                  <c:v>Vỡ nợ (22,12%)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77.88</c:v>
                </c:pt>
                <c:pt idx="1">
                  <c:v>22.12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D52-45E8-BC2B-C6AB25F757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333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VIF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BILL_AMT2</c:v>
                </c:pt>
                <c:pt idx="1">
                  <c:v>BILL_AMT5</c:v>
                </c:pt>
                <c:pt idx="2">
                  <c:v>BILL_AMT4</c:v>
                </c:pt>
                <c:pt idx="3">
                  <c:v>BILL_AMT3</c:v>
                </c:pt>
                <c:pt idx="4">
                  <c:v>BILL_AMT1</c:v>
                </c:pt>
                <c:pt idx="5">
                  <c:v>BILL_AMT6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23.66</c:v>
                </c:pt>
                <c:pt idx="1">
                  <c:v>22.6</c:v>
                </c:pt>
                <c:pt idx="2">
                  <c:v>19.29</c:v>
                </c:pt>
                <c:pt idx="3">
                  <c:v>15.69</c:v>
                </c:pt>
                <c:pt idx="4">
                  <c:v>15.68</c:v>
                </c:pt>
                <c:pt idx="5">
                  <c:v>13.82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95-4FCD-9488-F6092FE35D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LightGBM</c:v>
                </c:pt>
                <c:pt idx="1">
                  <c:v>XGBoost</c:v>
                </c:pt>
                <c:pt idx="2">
                  <c:v>GBM</c:v>
                </c:pt>
                <c:pt idx="3">
                  <c:v>Random Forest</c:v>
                </c:pt>
                <c:pt idx="4">
                  <c:v>Neural Network</c:v>
                </c:pt>
                <c:pt idx="5">
                  <c:v>Logistic Regression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0.78859999999999997</c:v>
                </c:pt>
                <c:pt idx="1">
                  <c:v>0.78849999999999998</c:v>
                </c:pt>
                <c:pt idx="2">
                  <c:v>0.78820000000000001</c:v>
                </c:pt>
                <c:pt idx="3">
                  <c:v>0.78520000000000001</c:v>
                </c:pt>
                <c:pt idx="4">
                  <c:v>0.77849999999999997</c:v>
                </c:pt>
                <c:pt idx="5">
                  <c:v>0.74560000000000004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1C-4B75-B643-835ABC7F4D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2"/>
          <c:min val="0.65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|SHAP|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MAX_DELAY</c:v>
                </c:pt>
                <c:pt idx="1">
                  <c:v>LIMIT_BAL</c:v>
                </c:pt>
                <c:pt idx="2">
                  <c:v>PAY_1</c:v>
                </c:pt>
                <c:pt idx="3">
                  <c:v>BILL_AMT1</c:v>
                </c:pt>
                <c:pt idx="4">
                  <c:v>AVG_DELAY</c:v>
                </c:pt>
                <c:pt idx="5">
                  <c:v>PAY_AMT3</c:v>
                </c:pt>
                <c:pt idx="6">
                  <c:v>AVG_PAY_AMT</c:v>
                </c:pt>
                <c:pt idx="7">
                  <c:v>PAY_AMT2</c:v>
                </c:pt>
                <c:pt idx="8">
                  <c:v>PAY_AMT4</c:v>
                </c:pt>
                <c:pt idx="9">
                  <c:v>MARRIAGE_2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8.5199999999999998E-2</c:v>
                </c:pt>
                <c:pt idx="1">
                  <c:v>4.0300000000000002E-2</c:v>
                </c:pt>
                <c:pt idx="2">
                  <c:v>3.3399999999999999E-2</c:v>
                </c:pt>
                <c:pt idx="3">
                  <c:v>2.4400000000000002E-2</c:v>
                </c:pt>
                <c:pt idx="4">
                  <c:v>1.8200000000000001E-2</c:v>
                </c:pt>
                <c:pt idx="5">
                  <c:v>1.54E-2</c:v>
                </c:pt>
                <c:pt idx="6">
                  <c:v>1.44E-2</c:v>
                </c:pt>
                <c:pt idx="7">
                  <c:v>1.3599999999999999E-2</c:v>
                </c:pt>
                <c:pt idx="8">
                  <c:v>1.26E-2</c:v>
                </c:pt>
                <c:pt idx="9">
                  <c:v>1.0200000000000001E-2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B2-4166-9E57-928016E3E4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6678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840480" cy="38404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KHOA HỌC DỮ LIỆU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Hệ thống Dự đoán Rủi ro Tín dụng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và Đề xuất Ưu tiên Thu hồi nợ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dữ liệu UCI — Default of Credit Card Clients (Đài Loan, 2005)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0060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983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pháp: Grid Search + 5-fold Cross-Validation · 6 mô hình · Class-weight rebalancing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943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Đoàn Thị Thu Linh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chiếu: Yeh &amp; Lien (2009), Expert Systems with Applications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BÀI TOÁN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Bối cảnh và định nghĩa Input / Output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đoán sớm khả năng khách hàng thẻ tín dụng vỡ nợ, từ đó xây dựng công cụ ưu tiên nguồn lực thu hồi nợ — thay vì liên hệ dàn trải toàn bộ danh sách khách hàng.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4023360"/>
          </a:xfrm>
          <a:prstGeom prst="roundRect">
            <a:avLst>
              <a:gd name="adj" fmla="val 1364"/>
            </a:avLst>
          </a:prstGeom>
          <a:solidFill>
            <a:srgbClr val="F2F4F9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606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26517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— 23 biến đầu vào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khẩu học (4)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5021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LIMIT_BAL, SEX, EDUCATION, AGE, MARRIAGE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39044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 thanh toán (6)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PAY_1…PAY_6 — trạng thái trễ hạn 6 kỳ gần nhất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456285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Dư nợ hoá đơn (6)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8188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BILL_AMT1…BILL_AMT6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522122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toán đã trả (6)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4772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PAY_AMT1…PAY_AMT6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4400" y="5806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30.000 khách hàng · 0 giá trị thiếu · 0 trùng lặp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2286000"/>
            <a:ext cx="5394960" cy="4023360"/>
          </a:xfrm>
          <a:prstGeom prst="roundRect">
            <a:avLst>
              <a:gd name="adj" fmla="val 1364"/>
            </a:avLst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6629400" y="26060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0" y="26517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3 tầng đầu ra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15200" y="324612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default.payment.next.month ∈ {0,1}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0" y="350215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Nhãn nhị phân: 1 = vỡ nợ tháng kế tiếp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315200" y="411480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risk_score ∈ [0,1]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0" y="437083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suất vỡ nợ do mô hình dự báo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0" y="498348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priority_score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0" y="523951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risk_score × mức độ trễ hạn — điểm ưu tiên thu hồi nợ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 LUẬN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 trình 8 bước (kiểu CRISP-DM)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2651760" cy="1874520"/>
          </a:xfrm>
          <a:prstGeom prst="roundRect">
            <a:avLst>
              <a:gd name="adj" fmla="val 3415"/>
            </a:avLst>
          </a:prstGeom>
          <a:solidFill>
            <a:srgbClr val="F2F4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Khám phá dữ liệu (EDA)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502152" y="1828800"/>
            <a:ext cx="2651760" cy="1874520"/>
          </a:xfrm>
          <a:prstGeom prst="roundRect">
            <a:avLst>
              <a:gd name="adj" fmla="val 3415"/>
            </a:avLst>
          </a:prstGeom>
          <a:solidFill>
            <a:srgbClr val="F2F4F9"/>
          </a:solidFill>
          <a:ln/>
        </p:spPr>
      </p:sp>
      <p:sp>
        <p:nvSpPr>
          <p:cNvPr id="9" name="Shape 7"/>
          <p:cNvSpPr/>
          <p:nvPr/>
        </p:nvSpPr>
        <p:spPr>
          <a:xfrm>
            <a:off x="3730752" y="20574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730752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85032" y="2788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tương quan / VIF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9944" y="1828800"/>
            <a:ext cx="2651760" cy="1874520"/>
          </a:xfrm>
          <a:prstGeom prst="roundRect">
            <a:avLst>
              <a:gd name="adj" fmla="val 3415"/>
            </a:avLst>
          </a:prstGeom>
          <a:solidFill>
            <a:srgbClr val="F2F4F9"/>
          </a:solidFill>
          <a:ln/>
        </p:spPr>
      </p:sp>
      <p:sp>
        <p:nvSpPr>
          <p:cNvPr id="13" name="Shape 11"/>
          <p:cNvSpPr/>
          <p:nvPr/>
        </p:nvSpPr>
        <p:spPr>
          <a:xfrm>
            <a:off x="6638544" y="20574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638544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92824" y="2788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 xử lý &amp; Feature Engineering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317736" y="1828800"/>
            <a:ext cx="2651760" cy="1874520"/>
          </a:xfrm>
          <a:prstGeom prst="roundRect">
            <a:avLst>
              <a:gd name="adj" fmla="val 3415"/>
            </a:avLst>
          </a:prstGeom>
          <a:solidFill>
            <a:srgbClr val="F2F4F9"/>
          </a:solidFill>
          <a:ln/>
        </p:spPr>
      </p:sp>
      <p:sp>
        <p:nvSpPr>
          <p:cNvPr id="17" name="Shape 15"/>
          <p:cNvSpPr/>
          <p:nvPr/>
        </p:nvSpPr>
        <p:spPr>
          <a:xfrm>
            <a:off x="9546336" y="20574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546336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500616" y="2788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Huấn luyện baseline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4360" y="3977640"/>
            <a:ext cx="2651760" cy="1874520"/>
          </a:xfrm>
          <a:prstGeom prst="roundRect">
            <a:avLst>
              <a:gd name="adj" fmla="val 3415"/>
            </a:avLst>
          </a:prstGeom>
          <a:solidFill>
            <a:srgbClr val="F2F4F9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206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206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77240" y="49377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+ 5-fold CV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3502152" y="3977640"/>
            <a:ext cx="2651760" cy="1874520"/>
          </a:xfrm>
          <a:prstGeom prst="roundRect">
            <a:avLst>
              <a:gd name="adj" fmla="val 3415"/>
            </a:avLst>
          </a:prstGeom>
          <a:solidFill>
            <a:srgbClr val="F2F4F9"/>
          </a:solidFill>
          <a:ln/>
        </p:spPr>
      </p:sp>
      <p:sp>
        <p:nvSpPr>
          <p:cNvPr id="25" name="Shape 23"/>
          <p:cNvSpPr/>
          <p:nvPr/>
        </p:nvSpPr>
        <p:spPr>
          <a:xfrm>
            <a:off x="3730752" y="4206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3730752" y="4206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685032" y="49377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trên tập Test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9944" y="3977640"/>
            <a:ext cx="2651760" cy="1874520"/>
          </a:xfrm>
          <a:prstGeom prst="roundRect">
            <a:avLst>
              <a:gd name="adj" fmla="val 3415"/>
            </a:avLst>
          </a:prstGeom>
          <a:solidFill>
            <a:srgbClr val="F2F4F9"/>
          </a:solidFill>
          <a:ln/>
        </p:spPr>
      </p:sp>
      <p:sp>
        <p:nvSpPr>
          <p:cNvPr id="29" name="Shape 27"/>
          <p:cNvSpPr/>
          <p:nvPr/>
        </p:nvSpPr>
        <p:spPr>
          <a:xfrm>
            <a:off x="6638544" y="4206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638544" y="4206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592824" y="49377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Diễn giải mô hình (SHAP)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9317736" y="3977640"/>
            <a:ext cx="2651760" cy="1874520"/>
          </a:xfrm>
          <a:prstGeom prst="roundRect">
            <a:avLst>
              <a:gd name="adj" fmla="val 3415"/>
            </a:avLst>
          </a:prstGeom>
          <a:solidFill>
            <a:srgbClr val="F2F4F9"/>
          </a:solidFill>
          <a:ln/>
        </p:spPr>
      </p:sp>
      <p:sp>
        <p:nvSpPr>
          <p:cNvPr id="33" name="Shape 31"/>
          <p:cNvSpPr/>
          <p:nvPr/>
        </p:nvSpPr>
        <p:spPr>
          <a:xfrm>
            <a:off x="9546336" y="42062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9546336" y="4206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500616" y="49377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Xếp hạng ưu tiên thu hồi nợ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9436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này trình bày Version 7 — pipeline chính thức: 6 mô hình, Grid Search + 5-fold CV đủ 8 metric, xử lý mất cân bằng bằng class-weight (không dùng SMOTE).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— EDA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phối biến mục tiêu: dữ liệu mất cân bằng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737360"/>
          <a:ext cx="45720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783080"/>
            <a:ext cx="2926080" cy="1554480"/>
          </a:xfrm>
          <a:prstGeom prst="roundRect">
            <a:avLst>
              <a:gd name="adj" fmla="val 4706"/>
            </a:avLst>
          </a:prstGeom>
          <a:solidFill>
            <a:srgbClr val="F2F4F9"/>
          </a:solidFill>
          <a:ln/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669280" y="192024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30.000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76072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hàng, 25 cột dữ liệu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778240" y="1783080"/>
            <a:ext cx="2926080" cy="1554480"/>
          </a:xfrm>
          <a:prstGeom prst="roundRect">
            <a:avLst>
              <a:gd name="adj" fmla="val 4706"/>
            </a:avLst>
          </a:prstGeom>
          <a:solidFill>
            <a:srgbClr val="F2F4F9"/>
          </a:solidFill>
          <a:ln/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778240" y="192024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86968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thiếu / trùng lặp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0" y="3520440"/>
            <a:ext cx="2926080" cy="1554480"/>
          </a:xfrm>
          <a:prstGeom prst="roundRect">
            <a:avLst>
              <a:gd name="adj" fmla="val 4706"/>
            </a:avLst>
          </a:prstGeom>
          <a:solidFill>
            <a:srgbClr val="F2F4F9"/>
          </a:solidFill>
          <a:ln/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669280" y="365760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22,12%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576072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vỡ nợ (6.636 khách)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778240" y="3520440"/>
            <a:ext cx="2926080" cy="1554480"/>
          </a:xfrm>
          <a:prstGeom prst="roundRect">
            <a:avLst>
              <a:gd name="adj" fmla="val 4706"/>
            </a:avLst>
          </a:prstGeom>
          <a:solidFill>
            <a:srgbClr val="F2F4F9"/>
          </a:solidFill>
          <a:ln/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778240" y="365760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77,88%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886968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nếu đoán "an toàn"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69280" y="5257800"/>
            <a:ext cx="6035040" cy="777240"/>
          </a:xfrm>
          <a:prstGeom prst="rect">
            <a:avLst/>
          </a:prstGeom>
          <a:solidFill>
            <a:srgbClr val="F2F4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luôn dự đoán "không vỡ nợ", Accuracy đạt 77,88% nhưng Recall = 0% — đây là lý do KHÔNG dùng Accuracy làm tiêu chí chính.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— XỬ LÝ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đề: 6 biến BILL_AMT tương quan rất cao với nhau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74520"/>
          <a:ext cx="56692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9893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&gt; 10 = dấu hiệu đa cộng tuyến mạnh (ngưỡng cảnh báo phổ biến)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pháp: 6 đặc trưng tổng hợp mới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92240" y="196596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2F4F9"/>
          </a:solidFill>
          <a:ln/>
        </p:spPr>
      </p:sp>
      <p:sp>
        <p:nvSpPr>
          <p:cNvPr id="9" name="Text 6"/>
          <p:cNvSpPr/>
          <p:nvPr/>
        </p:nvSpPr>
        <p:spPr>
          <a:xfrm>
            <a:off x="6675120" y="203911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AVG_BILL_AMT / AVG_PAY_AMT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675120" y="235000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 dư nợ / thanh toán 6 kỳ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92240" y="292608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2F4F9"/>
          </a:solidFill>
          <a:ln/>
        </p:spPr>
      </p:sp>
      <p:sp>
        <p:nvSpPr>
          <p:cNvPr id="12" name="Text 9"/>
          <p:cNvSpPr/>
          <p:nvPr/>
        </p:nvSpPr>
        <p:spPr>
          <a:xfrm>
            <a:off x="6675120" y="29992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BILL_AMT_TREND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675120" y="331012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hướng dư nợ đang tăng hay giảm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92240" y="388620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2F4F9"/>
          </a:solidFill>
          <a:ln/>
        </p:spPr>
      </p:sp>
      <p:sp>
        <p:nvSpPr>
          <p:cNvPr id="15" name="Text 12"/>
          <p:cNvSpPr/>
          <p:nvPr/>
        </p:nvSpPr>
        <p:spPr>
          <a:xfrm>
            <a:off x="6675120" y="395935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MAX_DELAY / AVG_DELAY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675120" y="427024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trễ hạn nặng nhất / trung bình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92240" y="484632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2F4F9"/>
          </a:solidFill>
          <a:ln/>
        </p:spPr>
      </p:sp>
      <p:sp>
        <p:nvSpPr>
          <p:cNvPr id="18" name="Text 15"/>
          <p:cNvSpPr/>
          <p:nvPr/>
        </p:nvSpPr>
        <p:spPr>
          <a:xfrm>
            <a:off x="6675120" y="491947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PAY_TO_BILL_RATIO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675120" y="523036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trả nợ trên dư nợ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HUẤN LUYỆN MÔ HÌNH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Xử lý mất cân bằng — 6 mô hình, 6 cơ chế riêng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169164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9456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2194560"/>
            <a:ext cx="7040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class_weight = "balanced"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61488"/>
            <a:ext cx="11064240" cy="566928"/>
          </a:xfrm>
          <a:prstGeom prst="rect">
            <a:avLst/>
          </a:prstGeom>
          <a:solidFill>
            <a:srgbClr val="F2F4F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6148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2761488"/>
            <a:ext cx="7040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class_weight = "balanced"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28416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2841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3328416"/>
            <a:ext cx="7040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class_weight = "balanced"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64240" cy="566928"/>
          </a:xfrm>
          <a:prstGeom prst="rect">
            <a:avLst/>
          </a:prstGeom>
          <a:solidFill>
            <a:srgbClr val="F2F4F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89534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3895344"/>
            <a:ext cx="7040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scale_pos_weight ≈ 3,52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462272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46227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(sklearn)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4462272"/>
            <a:ext cx="7040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sample_weight = "balanced" (qua fit())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029200"/>
            <a:ext cx="11064240" cy="566928"/>
          </a:xfrm>
          <a:prstGeom prst="rect">
            <a:avLst/>
          </a:prstGeom>
          <a:solidFill>
            <a:srgbClr val="F2F4F9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02920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(MLP)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5029200"/>
            <a:ext cx="7040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Oversample thủ công lớp thiểu số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5870448"/>
            <a:ext cx="11064240" cy="731520"/>
          </a:xfrm>
          <a:prstGeom prst="rect">
            <a:avLst/>
          </a:prstGeom>
          <a:solidFill>
            <a:srgbClr val="F2F4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dùng SMOTE trong pipeline chính: SMOTE sinh mẫu tổng hợp làm lệch xác suất dự đoán khỏi phân phối thật — trong khi risk_score cần là xác suất thực để dùng cho priority_score.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HUẤN LUYỆN MÔ HÌNH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Tinh chỉnh tham số: Grid Search + 5-fold Stratified CV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2F4F9"/>
          </a:solidFill>
          <a:ln/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74520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 hợp tham số (6 model)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2F4F9"/>
          </a:solidFill>
          <a:ln/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874520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29000" y="31089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dòng train+val cho CV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2F4F9"/>
          </a:solidFill>
          <a:ln/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874520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17920" y="31089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Stratified K-Fold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17373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2F4F9"/>
          </a:solidFill>
          <a:ln/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1874520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06840" y="31089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tính mỗi fold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đủ 8 metric mỗi fold (không chỉ AUC-ROC)?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tính AUC-ROC sẽ không biết bộ tham số "thắng" có đánh đổi Precision/Recall/F1 kém hơn bộ khác trong cùng lưới hay không.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80060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9560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quan trọng nhất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52578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Random Forest: chọn tham số theo AUC-ROC cho Recall = 60,07% — nhưng cùng lưới đó có 1 tổ hợp khác đạt Recall 63,74% (+3,67 điểm %). 5/6 model còn lại: chênh lệch AUC vs F1/Recall &lt; 0,5 điểm % — AUC-ROC là tiêu chí đáng tin cho phần lớn model.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— CROSS-VALIDATION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Bảng 8 metric trung bình 5-fold (bộ tham số được chọn)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1169" y="2194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1169" y="2194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471169" y="3108960"/>
            <a:ext cx="4572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3471169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0,554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471169" y="3108960"/>
            <a:ext cx="45720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1" name="Text 129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— TẬP TEST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sánh AUC-ROC trên 6.000 khách hàng chưa từng thấy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3736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2F4F9"/>
          </a:solidFill>
          <a:ln/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0" y="187452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863840" y="2743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tốt nhất (AUC 0,7886)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772400" y="3291840"/>
            <a:ext cx="3931920" cy="2834640"/>
          </a:xfrm>
          <a:prstGeom prst="roundRect">
            <a:avLst>
              <a:gd name="adj" fmla="val 2258"/>
            </a:avLst>
          </a:prstGeom>
          <a:solidFill>
            <a:srgbClr val="F2F4F9"/>
          </a:solidFill>
          <a:ln/>
        </p:spPr>
      </p:sp>
      <p:sp>
        <p:nvSpPr>
          <p:cNvPr id="9" name="Text 6"/>
          <p:cNvSpPr/>
          <p:nvPr/>
        </p:nvSpPr>
        <p:spPr>
          <a:xfrm>
            <a:off x="7955280" y="3429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mô hình boosting chênh nhau &lt; 0,0004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55280" y="38862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Nhỏ hơn nhiều so với độ lệch chuẩn quan sát được giữa các fold CV (~0,004) → về thống kê, LightGBM/XGBoost/GBM tương đương nhau, không có "người thắng" rõ ràng.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55280" y="50292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tụt lại xa nhất (0,7456) — đúng kỳ vọng cho mô hình tuyến tính trên quan hệ phi tuyến.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— TẬP TEST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— LightGBM (ngưỡng 0,5)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26280" y="12801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đoán: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vỡ nợ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12801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đoán: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Vỡ nợ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67805" y="25146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tế: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vỡ nợ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67805" y="4302119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tế: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Vỡ nợ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965960"/>
            <a:ext cx="2926080" cy="1737360"/>
          </a:xfrm>
          <a:prstGeom prst="roundRect">
            <a:avLst>
              <a:gd name="adj" fmla="val 3158"/>
            </a:avLst>
          </a:prstGeom>
          <a:solidFill>
            <a:srgbClr val="1E7A46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219456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3.652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17720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89520" y="1965960"/>
            <a:ext cx="2926080" cy="1737360"/>
          </a:xfrm>
          <a:prstGeom prst="roundRect">
            <a:avLst>
              <a:gd name="adj" fmla="val 3158"/>
            </a:avLst>
          </a:prstGeom>
          <a:solidFill>
            <a:srgbClr val="D68910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0" y="219456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680960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26280" y="3840480"/>
            <a:ext cx="2926080" cy="1737360"/>
          </a:xfrm>
          <a:prstGeom prst="roundRect">
            <a:avLst>
              <a:gd name="adj" fmla="val 3158"/>
            </a:avLst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406908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617720" y="5074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89520" y="3840480"/>
            <a:ext cx="2926080" cy="1737360"/>
          </a:xfrm>
          <a:prstGeom prst="roundRect">
            <a:avLst>
              <a:gd name="adj" fmla="val 3158"/>
            </a:avLst>
          </a:prstGeom>
          <a:solidFill>
            <a:srgbClr val="1E7A46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0" y="406908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887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680960" y="5074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DIỄN GIẢI MÔ HÌNH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— Đặc trưng ảnh hưởng mạnh nhất (LightGBM)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9164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046720" y="1737360"/>
            <a:ext cx="3657600" cy="2103120"/>
          </a:xfrm>
          <a:prstGeom prst="roundRect">
            <a:avLst>
              <a:gd name="adj" fmla="val 3043"/>
            </a:avLst>
          </a:prstGeom>
          <a:solidFill>
            <a:srgbClr val="F2F4F9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0" y="1874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MAX_DELAY dẫn đầu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0" y="219456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trưng tự tạo (mức trễ hạn nặng nhất/6 kỳ) quan trọng gấp đôi đặc trưng đứng thứ 2 (LIMIT_BAL) — xác nhận feature engineering ở Bước 3 hiệu quả.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046720" y="4023360"/>
            <a:ext cx="3657600" cy="224028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0" y="4160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ý công bằng thuật toán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29600" y="4480560"/>
            <a:ext cx="32918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MARRIAGE_2 (độc thân) và SEX_1 (nam) lọt top 15 — biến nhân khẩu học trong quyết định tín dụng có thể gặp rủi ro pháp lý ở một số khung pháp lý, cần đánh giá fairness trước khi triển khai thực tế.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NGHIỆP VỤ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Xếp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hạng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ưu tiên thu hồi nợ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priority_score = risk_score × mức_độ_trễ_hạn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2F4F9"/>
          </a:solidFill>
          <a:ln/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2402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 trong tập test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rot="5400000">
            <a:off x="4114800" y="2834640"/>
            <a:ext cx="548640" cy="365760"/>
          </a:xfrm>
          <a:prstGeom prst="triangle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4937760" y="210312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2F4F9"/>
          </a:solidFill>
          <a:ln/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22402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02920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"Cao — liên hệ ngay" (top 10%)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rot="5400000">
            <a:off x="8503920" y="2834640"/>
            <a:ext cx="548640" cy="365760"/>
          </a:xfrm>
          <a:prstGeom prst="triangle">
            <a:avLst/>
          </a:prstGeom>
          <a:solidFill>
            <a:srgbClr val="CADCFC"/>
          </a:solidFill>
          <a:ln/>
        </p:spPr>
      </p:sp>
      <p:sp>
        <p:nvSpPr>
          <p:cNvPr id="13" name="Shape 11"/>
          <p:cNvSpPr/>
          <p:nvPr/>
        </p:nvSpPr>
        <p:spPr>
          <a:xfrm>
            <a:off x="9326880" y="210312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F2F4F9"/>
          </a:solidFill>
          <a:ln/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26880" y="2240280"/>
            <a:ext cx="2286000" cy="13258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418320" y="35661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khối lượng liên hệ trực tiếp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11064240" cy="1554480"/>
          </a:xfrm>
          <a:prstGeom prst="roundRect">
            <a:avLst>
              <a:gd name="adj" fmla="val 4118"/>
            </a:avLst>
          </a:prstGeom>
          <a:solidFill>
            <a:srgbClr val="FCEFE9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828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phát hiện được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138928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Hơn 60% khách hàng có delay_severity = 0 → priority_score = 0 trùng đúng ngưỡng phân vị 60% → nhóm "Thấp" trống rỗng. Công thức cũng chưa tính đến giá trị dư nợ (exposure amount) — cần cải tiến ở bản kế tiếp.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 và Hạn chế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80760" y="1691640"/>
            <a:ext cx="0" cy="4663440"/>
          </a:xfrm>
          <a:prstGeom prst="line">
            <a:avLst/>
          </a:prstGeom>
          <a:noFill/>
          <a:ln w="12700">
            <a:solidFill>
              <a:srgbClr val="3B4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CHÍNH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 mô hình boosting (LightGBM/XGBoost/GBM) tương đương thống kê, AUC-ROC ≈ 0,788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Grid+CV đủ metric phát hiện đánh đổi ẩn ở Random Forest (Recall −3,67pp)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SHAP xác nhận MAX_DELAY và LIMIT_BAL là 2 tín hiệu dự báo mạnh nhất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priority_score giảm 90% khối lượng liên hệ trực tiếp (6.000 → 600)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17830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B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CẦN CẢI THIỆN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219456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33% ca vỡ nợ thật bị bỏ sót — ngưỡng 0,5 chưa tối ưu theo chi phí nghiệp vụ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297180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priority_score chưa tính giá trị dư nợ (exposure amount)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374904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Chưa kiểm tra calibration (Brier/reliability diagram) của pipeline chính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452628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Biến nhân khẩu học (MARRIAGE, SEX) trong top feature — cần đánh giá fairness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đáp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 đầy đủ: docs/bao_cao_ket_qua_v7.docx  ·  Notebook: 07_credit_risk_pipeline_v7.ipynb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1449</Words>
  <Application>Microsoft Office PowerPoint</Application>
  <PresentationFormat>Widescreen</PresentationFormat>
  <Paragraphs>193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Linh Đoàn</cp:lastModifiedBy>
  <cp:revision>5</cp:revision>
  <dcterms:created xsi:type="dcterms:W3CDTF">2026-08-06T07:12:29Z</dcterms:created>
  <dcterms:modified xsi:type="dcterms:W3CDTF">2026-08-06T08:43:30Z</dcterms:modified>
</cp:coreProperties>
</file>